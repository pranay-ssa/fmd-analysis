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738" r:id="rId5"/>
  </p:sldMasterIdLst>
  <p:notesMasterIdLst>
    <p:notesMasterId r:id="rId24"/>
  </p:notesMasterIdLst>
  <p:sldIdLst>
    <p:sldId id="381" r:id="rId6"/>
    <p:sldId id="520" r:id="rId7"/>
    <p:sldId id="462" r:id="rId8"/>
    <p:sldId id="465" r:id="rId9"/>
    <p:sldId id="509" r:id="rId10"/>
    <p:sldId id="523" r:id="rId11"/>
    <p:sldId id="524" r:id="rId12"/>
    <p:sldId id="506" r:id="rId13"/>
    <p:sldId id="521" r:id="rId14"/>
    <p:sldId id="522" r:id="rId15"/>
    <p:sldId id="511" r:id="rId16"/>
    <p:sldId id="518" r:id="rId17"/>
    <p:sldId id="512" r:id="rId18"/>
    <p:sldId id="513" r:id="rId19"/>
    <p:sldId id="515" r:id="rId20"/>
    <p:sldId id="516" r:id="rId21"/>
    <p:sldId id="517" r:id="rId22"/>
    <p:sldId id="42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ran kala" initials="kk" lastIdx="1" clrIdx="0">
    <p:extLst>
      <p:ext uri="{19B8F6BF-5375-455C-9EA6-DF929625EA0E}">
        <p15:presenceInfo xmlns:p15="http://schemas.microsoft.com/office/powerpoint/2012/main" userId="a7e03df5d0b3dc9e" providerId="Windows Live"/>
      </p:ext>
    </p:extLst>
  </p:cmAuthor>
  <p:cmAuthor id="2" name="Srikanth Tata" initials="ST" lastIdx="2" clrIdx="1">
    <p:extLst>
      <p:ext uri="{19B8F6BF-5375-455C-9EA6-DF929625EA0E}">
        <p15:presenceInfo xmlns:p15="http://schemas.microsoft.com/office/powerpoint/2012/main" userId="S::srikanth.t@tekleaders.com::9548e5f8-963b-4049-9554-ad5adf054f8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C"/>
    <a:srgbClr val="A6E67A"/>
    <a:srgbClr val="0980ED"/>
    <a:srgbClr val="4F9DE3"/>
    <a:srgbClr val="000000"/>
    <a:srgbClr val="059DFB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E2513-0E69-4F87-827A-6EE5BDFE3872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047C3-9F02-4DB8-95E2-0E6837570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50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45658-4FFF-4768-9ED8-2348F30601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57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there a better name for Cut-Paste technique?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047C3-9F02-4DB8-95E2-0E6837570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81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the text normal. Not italics. De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047C3-9F02-4DB8-95E2-0E6837570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86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is v0.1 and v0.3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047C3-9F02-4DB8-95E2-0E68375703B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86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m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6F5934-7990-4F19-B951-3D4CF870EADC}"/>
              </a:ext>
            </a:extLst>
          </p:cNvPr>
          <p:cNvSpPr/>
          <p:nvPr userDrawn="1"/>
        </p:nvSpPr>
        <p:spPr>
          <a:xfrm>
            <a:off x="0" y="2397911"/>
            <a:ext cx="12191999" cy="1385044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F14D3-AFA6-473A-AC27-D8088F200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2400" y="3892125"/>
            <a:ext cx="10048284" cy="105259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AD6DAF-540A-41A3-B3D3-969BCABD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81031AE-6EE0-41E2-B898-5DC023E3B4C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1E24B-F572-418E-B9FA-F9C5A455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72B3E-2F14-4906-969F-670C9CD5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, icon  Description automatically generated with medium confidence">
            <a:extLst>
              <a:ext uri="{FF2B5EF4-FFF2-40B4-BE49-F238E27FC236}">
                <a16:creationId xmlns:a16="http://schemas.microsoft.com/office/drawing/2014/main" id="{A5924181-C404-44BC-9166-E8079A7C2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0600" y="260327"/>
            <a:ext cx="3333750" cy="561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3AE067-1729-4816-864D-BC83815F7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400" y="2463572"/>
            <a:ext cx="9014772" cy="1250365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018698-2590-4FE7-82F8-EF9DC8D4F996}"/>
              </a:ext>
            </a:extLst>
          </p:cNvPr>
          <p:cNvGrpSpPr/>
          <p:nvPr userDrawn="1"/>
        </p:nvGrpSpPr>
        <p:grpSpPr>
          <a:xfrm>
            <a:off x="459232" y="2213470"/>
            <a:ext cx="1750568" cy="1750568"/>
            <a:chOff x="3675529" y="2582855"/>
            <a:chExt cx="3037144" cy="303714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066B1ED-5C09-40A5-8F92-8FA5B566DEEF}"/>
                </a:ext>
              </a:extLst>
            </p:cNvPr>
            <p:cNvGrpSpPr/>
            <p:nvPr userDrawn="1"/>
          </p:nvGrpSpPr>
          <p:grpSpPr>
            <a:xfrm>
              <a:off x="3675529" y="2582855"/>
              <a:ext cx="3037144" cy="3037144"/>
              <a:chOff x="7571480" y="2582855"/>
              <a:chExt cx="3037144" cy="303714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C0A3D4-E4E3-4E6D-8D60-6A15C83753DD}"/>
                  </a:ext>
                </a:extLst>
              </p:cNvPr>
              <p:cNvSpPr/>
              <p:nvPr userDrawn="1"/>
            </p:nvSpPr>
            <p:spPr>
              <a:xfrm>
                <a:off x="7571480" y="2582855"/>
                <a:ext cx="3037144" cy="3037144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003EAB-7B46-4942-AAEB-248A18743964}"/>
                  </a:ext>
                </a:extLst>
              </p:cNvPr>
              <p:cNvSpPr/>
              <p:nvPr userDrawn="1"/>
            </p:nvSpPr>
            <p:spPr>
              <a:xfrm>
                <a:off x="7769131" y="2780506"/>
                <a:ext cx="2641842" cy="26418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A59DAD3-97F1-442B-86A8-EF34A9D6CD64}"/>
                </a:ext>
              </a:extLst>
            </p:cNvPr>
            <p:cNvGrpSpPr/>
            <p:nvPr userDrawn="1"/>
          </p:nvGrpSpPr>
          <p:grpSpPr>
            <a:xfrm>
              <a:off x="4030295" y="2963175"/>
              <a:ext cx="2327170" cy="2279498"/>
              <a:chOff x="4030295" y="2963175"/>
              <a:chExt cx="2327170" cy="2279498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37CB4FF-7D16-4045-AC84-24AB8BD99BBB}"/>
                  </a:ext>
                </a:extLst>
              </p:cNvPr>
              <p:cNvSpPr/>
              <p:nvPr userDrawn="1"/>
            </p:nvSpPr>
            <p:spPr>
              <a:xfrm rot="2700000">
                <a:off x="5106850" y="3474301"/>
                <a:ext cx="224413" cy="12913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Circle: Hollow 12">
                <a:extLst>
                  <a:ext uri="{FF2B5EF4-FFF2-40B4-BE49-F238E27FC236}">
                    <a16:creationId xmlns:a16="http://schemas.microsoft.com/office/drawing/2014/main" id="{D71E4B9B-C0AF-41E5-A6F5-7A3B61F7C13D}"/>
                  </a:ext>
                </a:extLst>
              </p:cNvPr>
              <p:cNvSpPr/>
              <p:nvPr userDrawn="1"/>
            </p:nvSpPr>
            <p:spPr>
              <a:xfrm>
                <a:off x="5486401" y="2963175"/>
                <a:ext cx="871064" cy="871062"/>
              </a:xfrm>
              <a:prstGeom prst="donu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Circle: Hollow 13">
                <a:extLst>
                  <a:ext uri="{FF2B5EF4-FFF2-40B4-BE49-F238E27FC236}">
                    <a16:creationId xmlns:a16="http://schemas.microsoft.com/office/drawing/2014/main" id="{302C5850-B83A-4683-A571-2E3BA962D28E}"/>
                  </a:ext>
                </a:extLst>
              </p:cNvPr>
              <p:cNvSpPr/>
              <p:nvPr userDrawn="1"/>
            </p:nvSpPr>
            <p:spPr>
              <a:xfrm>
                <a:off x="4030295" y="4371611"/>
                <a:ext cx="871064" cy="871062"/>
              </a:xfrm>
              <a:prstGeom prst="donu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27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03BFABF-F753-4357-9AD1-E3C1E6E56D1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1BBFC7-781D-40ED-B4C9-6198F5643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958"/>
              <a:ext cx="7258996" cy="6857042"/>
            </a:xfrm>
            <a:prstGeom prst="rect">
              <a:avLst/>
            </a:prstGeo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891431-7784-4C93-BF1C-0B2E39FF9DFD}"/>
                </a:ext>
              </a:extLst>
            </p:cNvPr>
            <p:cNvSpPr/>
            <p:nvPr/>
          </p:nvSpPr>
          <p:spPr>
            <a:xfrm>
              <a:off x="6132114" y="0"/>
              <a:ext cx="6059886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 descr="Logo, icon  Description automatically generated with medium confidence">
            <a:extLst>
              <a:ext uri="{FF2B5EF4-FFF2-40B4-BE49-F238E27FC236}">
                <a16:creationId xmlns:a16="http://schemas.microsoft.com/office/drawing/2014/main" id="{EEA1AFF5-F664-409A-9092-F8EE914929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1688" y="6262279"/>
            <a:ext cx="2584947" cy="4357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56F1E63-7388-424F-8459-B889AC07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235" y="2861228"/>
            <a:ext cx="5303229" cy="109713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411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7BBA-1952-4A08-81FC-77983D75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5CA7B-1E4A-4E2E-89F6-1B61B61B6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C8404-3660-49C1-B308-A6893D5E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6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1A0A6-11E5-42D5-B45F-B3C0FE64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DA476-3585-483E-9C7B-B38DC86B5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DE41-5961-4403-95B0-88F6BB07AF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9AFAD8-1CDD-4869-98CA-09CD7DB6CB08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346F6-5C55-4C95-9F21-42F281EEB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EB3BB-BB57-44FE-9BFC-E1C11C47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68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500A-FB3A-42F2-9A12-E7712BEFA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1D437-3831-41F8-A490-51FC60F20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8337F-A2EF-4526-81C4-DFE2A0500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6B17-BC63-437A-B07C-4A3DA6E9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9CF7D61-B652-41BF-8515-679F8A6C0DF2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B5BCD-08F4-4CC9-BC87-6A6C49CE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00D52-7CF4-4F4D-B837-689A8684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8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BDA2-7553-4E57-8F9B-C65D1E1B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A64CE-FE94-4D42-8F86-C83B0F35B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B0037-F311-42F6-A8C5-40FA28372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1C4BD-E7AC-4D17-AA35-559842221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A531F5-E9E7-40B3-A60B-0D4182415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0B8A7-5705-4DED-B3D2-31ABF5C6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9A0AE8-EBD2-4C27-885E-2C9FF2813F88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3CA29-73E0-48D6-AF1B-CDF0176B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A703A-1853-4517-8DCB-3D298790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0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3ADB6-E729-4312-945D-92E2BDAD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E35CC-9BFC-45FE-B1B8-7B3787FF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6442" y="5459203"/>
            <a:ext cx="2743200" cy="365125"/>
          </a:xfrm>
          <a:prstGeom prst="rect">
            <a:avLst/>
          </a:prstGeom>
        </p:spPr>
        <p:txBody>
          <a:bodyPr/>
          <a:lstStyle/>
          <a:p>
            <a:fld id="{5B82337C-27CE-4E89-B313-409204B9B467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45C66-68D5-4A33-BF2D-17FDF75D0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4C6A1-8510-405E-A0F4-7FCA88BC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2D864-2BFB-43B7-9025-59689323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A4495E-2E85-4330-95C6-4ADCC8345117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D2705-6BD1-46EB-B83C-AC9449F7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4F1A0-2BBF-4BE7-A211-858C6CAD4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0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746D-2C4E-49E7-825F-64BB54FFA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F799-2D61-4670-A32D-85B7128C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E10C2-E971-4EF8-862A-4B48BB47D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045E3-FBEF-4C3F-9A27-6AE00B94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A8710B7-15EE-4065-8802-162F4F789CDE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30B95-43D6-49A6-B4D6-493D527A1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92156-33A7-4D8D-A07D-5FEB2035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5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1857-8866-413C-909A-3925E463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7EA87-B1D5-477E-87AD-C18FD69955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4B884-297B-40D2-8126-3BF29E4F4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E0BB5-1A06-4E09-9254-89855B26C3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77DA17-07BD-4085-834E-88D79E09B9E8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51D35-3EC0-4263-B85F-3184270B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1C70A-1418-4ED8-83C8-8BD2B80C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13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16A7-6256-4F9C-8DC1-672CB5C4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7F834-FEC4-4BBF-BE63-14401CE70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46150-F528-4A34-81DD-C70B65B5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46E274-1D06-4EC2-BD54-0B6E35121516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671E0-81B8-4EE8-87CE-7BB26B97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3893A-34E2-4E0B-B7C5-2E8A89D2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D4C4-152B-4F3A-807B-837B77D5BA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0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18793-53E4-4AB4-A408-3603AA9CCD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52834-894C-4D21-9386-D7331BB3D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3C700-AFA3-41AE-B74E-37A420D9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312A-ACF0-AA4D-A4EE-BB5DC5D4448B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42FB0-D210-4CAA-ABF0-7B31BF7D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www.Intuceo.com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8C47-F1F7-478D-9F22-5AB24785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7B99-58AB-401E-AA92-D5D9A9D0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6FC55-6464-4905-862C-6C06FA4D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B50C0-F978-4897-B67C-054199541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536-34C3-DC4A-872E-54985BA2AB4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60A5C-C24C-49E3-82C1-73875C4AE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6E46-6F4D-4BEE-A06A-1BBCE24F6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781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A0665-260B-4E09-93C1-3048EF2A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8B347-59FF-4927-9420-245978C4A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F660C-9F42-4376-9903-141FA166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DF891-5CC3-ED49-A80A-1408BDB03F94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C2301-739A-4A61-8E6F-E787E9FC8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406D2-4391-4962-B18A-AED54DF1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13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6CC4-6D6A-42AA-8E34-E093017F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11FD-A4DA-48BC-94D6-5319C1FA1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35C8B-A67F-4AFF-B25E-E08A5A68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E3C45-E1B5-4612-98F6-6F7D00ADC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26FE-E71D-A045-9C42-4E65C0FD61A4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9CC3E-6CF9-41A2-B0B7-BD7FCC6B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2A7AE-2192-4200-A8FE-41B20C3B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52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8FCA-7A41-4787-9367-179261E2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36620-D649-48A4-A744-55F1E4ACE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19CCD-88F9-43E0-A8B2-AE12083E0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04C74-5B87-44BE-AE8C-4B0F48BD7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6AFA2-5C17-4D58-9A44-FBCDD5FCE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76675B-98EC-4C94-8B1F-9A4FB4FEB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C8EB-9B6E-B841-9BD7-11319FED0ADB}" type="datetime1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CD043-0240-4DCE-A3EF-57B78396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E283DB-57AA-4E9A-8C5C-0C782903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748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ADC5-67D1-491E-8ECB-0C959F4F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E1B4E-43D0-4F19-A644-5A90E081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4A8-FB28-F94D-A70B-F0C5C8348F28}" type="datetime1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3DB5C6-96F7-4AC6-AB7D-72856FE9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414B4-D3F5-4D90-8C9E-7135A51E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58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FBC4F-CD9F-4CF1-9498-C3CE3077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14B04-43C3-6B4C-BBE1-76541F1A67E5}" type="datetime1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57BF3-EB7B-4039-B355-FB15F195F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14099-89AE-4B0E-A297-23669A90F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747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26B92-FC4A-4242-B16F-42E1647F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0FE5A-691F-4208-AFE0-294921CF9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C4692-AB11-4212-A204-8907E125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35FE2-1933-425E-A0C3-BFC1828B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25407-6A06-3E4B-8B45-7FD985CEC785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F9B64-C877-427B-A4E8-B017A67A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9497-3826-4109-9354-0FF9181D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253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B6661-5EAD-4A50-A4F0-CC591B73E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815D8-2987-4054-9FEC-5CC2DDB3E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01579-AF11-4A93-82A6-88E6D248E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8F3DD-A7EC-467A-BAB2-910AC7A19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72750-0DA7-CE45-8415-F8B8478D5207}" type="datetime1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16C2C-52FE-4449-9140-17F87314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AF79D-5BCA-40DE-95AE-8482B4215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352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00F78-B83D-41B3-BEDF-7AB6D974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0433D-D83E-4460-8B91-123806D88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FB719-F056-473A-B887-833849E26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1619E-BFBA-9540-AAA0-7C2EC63F97ED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7B360-B0AD-4C7B-B493-682B217D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883B6-E54B-4D56-AB8C-D34FD02D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85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C5B30-F6F0-477D-89F6-D9DE96A7A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239E2-B0F3-42B9-90BB-A5073E48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55028-9A3A-40B0-8D71-3496A6874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6F7DF-91B0-BC46-813D-3AAFF0F87869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2C0E0-F16B-4FFA-B4F7-5DDC96BD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/>
              <a:t>www.Intuceo.com</a:t>
            </a:r>
            <a:r>
              <a:rPr lang="en-US"/>
              <a:t>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A8E07-10C1-438D-9918-4C321C9A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25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intuceo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DBC18E1-18D4-4B46-B18F-C0C10B0248E0}"/>
              </a:ext>
            </a:extLst>
          </p:cNvPr>
          <p:cNvSpPr/>
          <p:nvPr userDrawn="1"/>
        </p:nvSpPr>
        <p:spPr>
          <a:xfrm>
            <a:off x="0" y="6283790"/>
            <a:ext cx="12192000" cy="57420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  Description automatically generated with medium confidence">
            <a:extLst>
              <a:ext uri="{FF2B5EF4-FFF2-40B4-BE49-F238E27FC236}">
                <a16:creationId xmlns:a16="http://schemas.microsoft.com/office/drawing/2014/main" id="{91A241CE-62F2-4885-92B0-037BE9FFD72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1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012" y="1870076"/>
            <a:ext cx="10447976" cy="305726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27A32C-705C-4DDB-8BC2-979C9A64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5" y="365125"/>
            <a:ext cx="11132930" cy="840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48F45-2949-4E43-8F14-56500F2A8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535" y="1435652"/>
            <a:ext cx="11132930" cy="47413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F5B27-ABE7-430E-9012-8902017E3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9856" y="6488526"/>
            <a:ext cx="452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E26D4C4-152B-4F3A-807B-837B77D5BA2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Logo  Description automatically generated">
            <a:extLst>
              <a:ext uri="{FF2B5EF4-FFF2-40B4-BE49-F238E27FC236}">
                <a16:creationId xmlns:a16="http://schemas.microsoft.com/office/drawing/2014/main" id="{1092E547-D7C3-4D4F-9D3E-1D53C1656C0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5199" y="6361937"/>
            <a:ext cx="2479151" cy="4179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C4A7D5-DFED-4A3C-AE4A-32BCE5E6716D}"/>
              </a:ext>
            </a:extLst>
          </p:cNvPr>
          <p:cNvSpPr txBox="1"/>
          <p:nvPr userDrawn="1"/>
        </p:nvSpPr>
        <p:spPr>
          <a:xfrm>
            <a:off x="384295" y="6495026"/>
            <a:ext cx="71871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2">
                    <a:lumMod val="75000"/>
                  </a:schemeClr>
                </a:solidFill>
                <a:hlinkClick r:id="rId16"/>
              </a:rPr>
              <a:t>www.Intuceo.com</a:t>
            </a:r>
            <a:r>
              <a:rPr lang="en-US" sz="1000">
                <a:solidFill>
                  <a:schemeClr val="tx2">
                    <a:lumMod val="75000"/>
                  </a:schemeClr>
                </a:solidFill>
              </a:rPr>
              <a:t> | Copyright © 2026 INTUCEO |Private and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80213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13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–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–"/>
        <a:defRPr sz="16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4F327-CDBC-44C1-9F53-3747D2C8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7F97-EB8E-45EF-BA7F-1EDA5A6D3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3269B-9476-4A66-8A9E-E23F33C6A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5E75-CC49-2545-936A-974BD1C3CD3E}" type="datetime1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49F2-8A2E-42CC-83CF-9BAA90E80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www.Intuceo.com | Copyright © ICUBE |Private and Confidential </a:t>
            </a:r>
          </a:p>
          <a:p>
            <a:r>
              <a:rPr lang="en-US"/>
              <a:t>
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257CC-9E83-4D3D-9FDC-C5A95042A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22580-FFDE-4DFB-A5C7-A9F3885CB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61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7316" y="-304268"/>
            <a:ext cx="12406634" cy="7466538"/>
          </a:xfrm>
          <a:custGeom>
            <a:avLst/>
            <a:gdLst/>
            <a:ahLst/>
            <a:cxnLst/>
            <a:rect l="l" t="t" r="r" b="b"/>
            <a:pathLst>
              <a:path w="18609951" h="11199807">
                <a:moveTo>
                  <a:pt x="0" y="0"/>
                </a:moveTo>
                <a:lnTo>
                  <a:pt x="18609950" y="0"/>
                </a:lnTo>
                <a:lnTo>
                  <a:pt x="18609950" y="11199806"/>
                </a:lnTo>
                <a:lnTo>
                  <a:pt x="0" y="11199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>
            <a:off x="0" y="-304270"/>
            <a:ext cx="12192000" cy="7466539"/>
          </a:xfrm>
          <a:custGeom>
            <a:avLst/>
            <a:gdLst/>
            <a:ahLst/>
            <a:cxnLst/>
            <a:rect l="l" t="t" r="r" b="b"/>
            <a:pathLst>
              <a:path w="18288000" h="12143892">
                <a:moveTo>
                  <a:pt x="0" y="0"/>
                </a:moveTo>
                <a:lnTo>
                  <a:pt x="18288000" y="0"/>
                </a:lnTo>
                <a:lnTo>
                  <a:pt x="18288000" y="12143891"/>
                </a:lnTo>
                <a:lnTo>
                  <a:pt x="0" y="12143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>
            <a:off x="7240714" y="4346461"/>
            <a:ext cx="2234034" cy="642375"/>
          </a:xfrm>
          <a:custGeom>
            <a:avLst/>
            <a:gdLst/>
            <a:ahLst/>
            <a:cxnLst/>
            <a:rect l="l" t="t" r="r" b="b"/>
            <a:pathLst>
              <a:path w="3351051" h="963562">
                <a:moveTo>
                  <a:pt x="0" y="0"/>
                </a:moveTo>
                <a:lnTo>
                  <a:pt x="3351051" y="0"/>
                </a:lnTo>
                <a:lnTo>
                  <a:pt x="3351051" y="963562"/>
                </a:lnTo>
                <a:lnTo>
                  <a:pt x="0" y="963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403" t="-6474" r="-61256" b="-6474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TextBox 7"/>
          <p:cNvSpPr txBox="1"/>
          <p:nvPr/>
        </p:nvSpPr>
        <p:spPr>
          <a:xfrm>
            <a:off x="9840634" y="4375526"/>
            <a:ext cx="1665566" cy="565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61"/>
              </a:lnSpc>
            </a:pPr>
            <a:r>
              <a:rPr lang="en-US" sz="1700">
                <a:solidFill>
                  <a:srgbClr val="FFFFFF"/>
                </a:solidFill>
                <a:latin typeface="Arimo Bold"/>
              </a:rPr>
              <a:t>From Data Rich</a:t>
            </a:r>
          </a:p>
          <a:p>
            <a:pPr>
              <a:lnSpc>
                <a:spcPts val="2261"/>
              </a:lnSpc>
            </a:pPr>
            <a:r>
              <a:rPr lang="en-US" sz="1700">
                <a:solidFill>
                  <a:srgbClr val="FFFFFF"/>
                </a:solidFill>
                <a:latin typeface="Arimo Bold"/>
              </a:rPr>
              <a:t>to Insight Rich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65559" y="1962102"/>
            <a:ext cx="2215797" cy="2235423"/>
            <a:chOff x="0" y="0"/>
            <a:chExt cx="1390144" cy="14024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0144" cy="1402457"/>
            </a:xfrm>
            <a:custGeom>
              <a:avLst/>
              <a:gdLst/>
              <a:ahLst/>
              <a:cxnLst/>
              <a:rect l="l" t="t" r="r" b="b"/>
              <a:pathLst>
                <a:path w="1390144" h="1402457">
                  <a:moveTo>
                    <a:pt x="0" y="0"/>
                  </a:moveTo>
                  <a:lnTo>
                    <a:pt x="1390144" y="0"/>
                  </a:lnTo>
                  <a:lnTo>
                    <a:pt x="1390144" y="1402457"/>
                  </a:lnTo>
                  <a:lnTo>
                    <a:pt x="0" y="14024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90144" cy="1440557"/>
            </a:xfrm>
            <a:prstGeom prst="rect">
              <a:avLst/>
            </a:prstGeom>
          </p:spPr>
          <p:txBody>
            <a:bodyPr lIns="21326" tIns="21326" rIns="21326" bIns="21326" rtlCol="0" anchor="ctr"/>
            <a:lstStyle/>
            <a:p>
              <a:pPr algn="ctr">
                <a:lnSpc>
                  <a:spcPts val="1560"/>
                </a:lnSpc>
              </a:pPr>
              <a:endParaRPr sz="12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8199752" y="1869165"/>
            <a:ext cx="2347410" cy="2347410"/>
          </a:xfrm>
          <a:custGeom>
            <a:avLst/>
            <a:gdLst/>
            <a:ahLst/>
            <a:cxnLst/>
            <a:rect l="l" t="t" r="r" b="b"/>
            <a:pathLst>
              <a:path w="3521115" h="3521115">
                <a:moveTo>
                  <a:pt x="0" y="0"/>
                </a:moveTo>
                <a:lnTo>
                  <a:pt x="3521115" y="0"/>
                </a:lnTo>
                <a:lnTo>
                  <a:pt x="3521115" y="3521115"/>
                </a:lnTo>
                <a:lnTo>
                  <a:pt x="0" y="35211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2" name="Freeform 12"/>
          <p:cNvSpPr/>
          <p:nvPr/>
        </p:nvSpPr>
        <p:spPr>
          <a:xfrm>
            <a:off x="4483088" y="-228309"/>
            <a:ext cx="7886712" cy="1828219"/>
          </a:xfrm>
          <a:custGeom>
            <a:avLst/>
            <a:gdLst/>
            <a:ahLst/>
            <a:cxnLst/>
            <a:rect l="l" t="t" r="r" b="b"/>
            <a:pathLst>
              <a:path w="11830068" h="2742329">
                <a:moveTo>
                  <a:pt x="0" y="0"/>
                </a:moveTo>
                <a:lnTo>
                  <a:pt x="11830068" y="0"/>
                </a:lnTo>
                <a:lnTo>
                  <a:pt x="11830068" y="2742328"/>
                </a:lnTo>
                <a:lnTo>
                  <a:pt x="0" y="27423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58411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3" name="TextBox 13"/>
          <p:cNvSpPr txBox="1"/>
          <p:nvPr/>
        </p:nvSpPr>
        <p:spPr>
          <a:xfrm>
            <a:off x="872300" y="1608900"/>
            <a:ext cx="6576334" cy="1669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40"/>
              </a:lnSpc>
            </a:pPr>
            <a:r>
              <a:rPr lang="en-US" sz="2900" dirty="0">
                <a:solidFill>
                  <a:srgbClr val="FFFFFF"/>
                </a:solidFill>
                <a:latin typeface="Arimo"/>
              </a:rPr>
              <a:t>Project FMD</a:t>
            </a:r>
          </a:p>
          <a:p>
            <a:pPr>
              <a:lnSpc>
                <a:spcPts val="7040"/>
              </a:lnSpc>
            </a:pPr>
            <a:r>
              <a:rPr lang="en-US" sz="2900" dirty="0">
                <a:solidFill>
                  <a:srgbClr val="FFFFFF"/>
                </a:solidFill>
                <a:latin typeface="Arimo"/>
              </a:rPr>
              <a:t>October 5th, 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ECB75-ED03-CB58-A667-3C71FB33EF9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8903" y="4110833"/>
            <a:ext cx="1756005" cy="87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5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F8D763C-E56A-4A8B-AA1A-C8462EFF225A}"/>
              </a:ext>
            </a:extLst>
          </p:cNvPr>
          <p:cNvSpPr txBox="1">
            <a:spLocks/>
          </p:cNvSpPr>
          <p:nvPr/>
        </p:nvSpPr>
        <p:spPr>
          <a:xfrm>
            <a:off x="529535" y="336249"/>
            <a:ext cx="11132930" cy="840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Project Plan</a:t>
            </a:r>
            <a:endParaRPr lang="en-IN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FB2DDEF-D1FD-4509-93AA-41215B2985C7}"/>
              </a:ext>
            </a:extLst>
          </p:cNvPr>
          <p:cNvGraphicFramePr>
            <a:graphicFrameLocks/>
          </p:cNvGraphicFramePr>
          <p:nvPr/>
        </p:nvGraphicFramePr>
        <p:xfrm>
          <a:off x="4555042" y="668655"/>
          <a:ext cx="7291061" cy="4646165"/>
        </p:xfrm>
        <a:graphic>
          <a:graphicData uri="http://schemas.openxmlformats.org/drawingml/2006/table">
            <a:tbl>
              <a:tblPr/>
              <a:tblGrid>
                <a:gridCol w="1432173">
                  <a:extLst>
                    <a:ext uri="{9D8B030D-6E8A-4147-A177-3AD203B41FA5}">
                      <a16:colId xmlns:a16="http://schemas.microsoft.com/office/drawing/2014/main" val="70441155"/>
                    </a:ext>
                  </a:extLst>
                </a:gridCol>
                <a:gridCol w="899836">
                  <a:extLst>
                    <a:ext uri="{9D8B030D-6E8A-4147-A177-3AD203B41FA5}">
                      <a16:colId xmlns:a16="http://schemas.microsoft.com/office/drawing/2014/main" val="1675795000"/>
                    </a:ext>
                  </a:extLst>
                </a:gridCol>
                <a:gridCol w="662537">
                  <a:extLst>
                    <a:ext uri="{9D8B030D-6E8A-4147-A177-3AD203B41FA5}">
                      <a16:colId xmlns:a16="http://schemas.microsoft.com/office/drawing/2014/main" val="4103323288"/>
                    </a:ext>
                  </a:extLst>
                </a:gridCol>
                <a:gridCol w="4296515">
                  <a:extLst>
                    <a:ext uri="{9D8B030D-6E8A-4147-A177-3AD203B41FA5}">
                      <a16:colId xmlns:a16="http://schemas.microsoft.com/office/drawing/2014/main" val="2944689685"/>
                    </a:ext>
                  </a:extLst>
                </a:gridCol>
              </a:tblGrid>
              <a:tr h="3599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Phase</a:t>
                      </a:r>
                    </a:p>
                  </a:txBody>
                  <a:tcPr marL="4916" marR="4916" marT="4916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Timeline</a:t>
                      </a:r>
                    </a:p>
                  </a:txBody>
                  <a:tcPr marL="4916" marR="4916" marT="49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escription</a:t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760036"/>
                  </a:ext>
                </a:extLst>
              </a:tr>
              <a:tr h="79808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Business Understanding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Weeks 1–2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sym typeface="Wingdings" panose="05000000000000000000" pitchFamily="2" charset="2"/>
                        </a:rPr>
                        <a:t>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Define the foreign-matter criteria, reject rules, 647 µm threshold, lens-material exclusion, false-reject target, and annotation ownership.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319469"/>
                  </a:ext>
                </a:extLst>
              </a:tr>
              <a:tr h="691320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</a:t>
                      </a:r>
                    </a:p>
                    <a:p>
                      <a:pPr algn="l" fontAlgn="t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Understanding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Weeks 3–4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Characterize defect frequency, size, image quality, 647 µm detectability, and annotation ambiguities through EDA and image reviews.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186548"/>
                  </a:ext>
                </a:extLst>
              </a:tr>
              <a:tr h="70487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Preparation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Weeks 5–6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Pre-process images, remove excess black background, assess class-wise data sufficiency, and create stratified model-ready datasets.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603271"/>
                  </a:ext>
                </a:extLst>
              </a:tr>
              <a:tr h="731986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Modelling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Weeks 7–13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Select the architecture, build Edge and Back-Office baselines, run challenger cycles,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optimise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for latency and false-reject targets, and test model 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generalisation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 unseen data.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687406"/>
                  </a:ext>
                </a:extLst>
              </a:tr>
              <a:tr h="528657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Evaluation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Weeks 14–15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Review code, model performance, and failure modes; finalize acceptance.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466215"/>
                  </a:ext>
                </a:extLst>
              </a:tr>
              <a:tr h="704876"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Deployment Planning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 16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Define deployment requirements, including hardware, environment, interfaces, line prerequisites, and monitoring; no deployment is executed.</a:t>
                      </a:r>
                    </a:p>
                  </a:txBody>
                  <a:tcPr marL="4916" marR="4916" marT="4916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0426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99E16F-56A4-4272-A84D-FD1124C05158}"/>
              </a:ext>
            </a:extLst>
          </p:cNvPr>
          <p:cNvSpPr txBox="1"/>
          <p:nvPr/>
        </p:nvSpPr>
        <p:spPr>
          <a:xfrm>
            <a:off x="657592" y="1320385"/>
            <a:ext cx="38013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  <a:ea typeface="+mj-ea"/>
                <a:cs typeface="+mj-cs"/>
              </a:rPr>
              <a:t>Project</a:t>
            </a:r>
            <a:r>
              <a:rPr lang="en-US" dirty="0"/>
              <a:t> </a:t>
            </a:r>
            <a:r>
              <a:rPr lang="en-US" dirty="0" err="1"/>
              <a:t>KickOff</a:t>
            </a:r>
            <a:r>
              <a:rPr lang="en-US" dirty="0"/>
              <a:t> –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17</a:t>
            </a:r>
            <a:r>
              <a:rPr lang="en-US" baseline="30000" dirty="0">
                <a:solidFill>
                  <a:schemeClr val="accent1">
                    <a:lumMod val="75000"/>
                  </a:schemeClr>
                </a:solidFill>
              </a:rPr>
              <a:t>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August 2026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Currently at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Week 7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A11E514-346D-41FC-8995-55A5157F87BF}"/>
              </a:ext>
            </a:extLst>
          </p:cNvPr>
          <p:cNvSpPr/>
          <p:nvPr/>
        </p:nvSpPr>
        <p:spPr>
          <a:xfrm>
            <a:off x="3039401" y="3653484"/>
            <a:ext cx="978408" cy="1309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183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FCF82-DE66-4D55-9AC0-818B633F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800" dirty="0"/>
              <a:t>Agenda – </a:t>
            </a:r>
            <a:r>
              <a:rPr lang="en-US" sz="3800" dirty="0"/>
              <a:t>Augmentation, Multi Label Model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9887-5192-408B-A3FD-3440BCEF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5" y="1715784"/>
            <a:ext cx="11347391" cy="2813686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Photometric &amp; Geometric Techniques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i="0" dirty="0">
                <a:effectLst/>
              </a:rPr>
              <a:t>Defect Relocation</a:t>
            </a:r>
            <a:r>
              <a:rPr lang="en-US" sz="2800" b="1" dirty="0"/>
              <a:t> Technique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/>
              <a:t>Multi label Model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b="1" dirty="0"/>
          </a:p>
          <a:p>
            <a:pPr marL="0" indent="0">
              <a:lnSpc>
                <a:spcPct val="150000"/>
              </a:lnSpc>
              <a:buNone/>
            </a:pPr>
            <a:endParaRPr lang="en-US" sz="14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B2B1520-D93C-458F-B62A-25C25965DA6D}"/>
              </a:ext>
            </a:extLst>
          </p:cNvPr>
          <p:cNvSpPr txBox="1">
            <a:spLocks/>
          </p:cNvSpPr>
          <p:nvPr/>
        </p:nvSpPr>
        <p:spPr>
          <a:xfrm>
            <a:off x="529535" y="3590582"/>
            <a:ext cx="11347390" cy="2520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altLang="en-US" sz="19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1532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37DD-7DEB-4685-87AD-CD30FDAA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38" y="347370"/>
            <a:ext cx="11120927" cy="840823"/>
          </a:xfrm>
        </p:spPr>
        <p:txBody>
          <a:bodyPr>
            <a:noAutofit/>
          </a:bodyPr>
          <a:lstStyle/>
          <a:p>
            <a:r>
              <a:rPr lang="en-US" sz="3600" dirty="0"/>
              <a:t>Photometric &amp; Geometric Used for Augmentation: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B663A-28C4-46E6-8F7B-50B60DF86339}"/>
              </a:ext>
            </a:extLst>
          </p:cNvPr>
          <p:cNvSpPr txBox="1"/>
          <p:nvPr/>
        </p:nvSpPr>
        <p:spPr>
          <a:xfrm>
            <a:off x="648070" y="1945061"/>
            <a:ext cx="1001401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accent6"/>
                </a:solidFill>
                <a:effectLst/>
              </a:rPr>
              <a:t>9 pixel-level techniques applied to real image that includes flips, brightness, contrast, gamma, noise, blur, zoom, vignette. </a:t>
            </a:r>
          </a:p>
          <a:p>
            <a:endParaRPr lang="en-US" sz="2000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accent6"/>
                </a:solidFill>
                <a:effectLst/>
              </a:rPr>
              <a:t>One random parameter drawn per image within the range, seeded for reproducibility</a:t>
            </a:r>
          </a:p>
          <a:p>
            <a:endParaRPr lang="en-US" sz="2000" b="0" dirty="0">
              <a:solidFill>
                <a:schemeClr val="accent6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Applied</a:t>
            </a:r>
            <a:r>
              <a:rPr lang="en-US" sz="2000" b="0" dirty="0">
                <a:solidFill>
                  <a:schemeClr val="accent6"/>
                </a:solidFill>
                <a:effectLst/>
              </a:rPr>
              <a:t> to all 22 classes</a:t>
            </a:r>
            <a:endParaRPr lang="en-US" sz="2000" dirty="0">
              <a:solidFill>
                <a:schemeClr val="accent6"/>
              </a:solidFill>
            </a:endParaRPr>
          </a:p>
          <a:p>
            <a:endParaRPr lang="en-US" sz="1400" dirty="0">
              <a:solidFill>
                <a:schemeClr val="accent6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08910-2081-42C1-97CF-4AB87CB88F7D}"/>
              </a:ext>
            </a:extLst>
          </p:cNvPr>
          <p:cNvSpPr txBox="1"/>
          <p:nvPr/>
        </p:nvSpPr>
        <p:spPr>
          <a:xfrm>
            <a:off x="719091" y="1305017"/>
            <a:ext cx="3480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Overview:</a:t>
            </a:r>
          </a:p>
        </p:txBody>
      </p:sp>
    </p:spTree>
    <p:extLst>
      <p:ext uri="{BB962C8B-B14F-4D97-AF65-F5344CB8AC3E}">
        <p14:creationId xmlns:p14="http://schemas.microsoft.com/office/powerpoint/2010/main" val="3148187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93AB1B-579B-4EE6-BDC0-6BA80CF86662}"/>
              </a:ext>
            </a:extLst>
          </p:cNvPr>
          <p:cNvSpPr txBox="1"/>
          <p:nvPr/>
        </p:nvSpPr>
        <p:spPr>
          <a:xfrm>
            <a:off x="532660" y="0"/>
            <a:ext cx="9996257" cy="820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i="0" dirty="0">
                <a:solidFill>
                  <a:schemeClr val="accent2"/>
                </a:solidFill>
                <a:effectLst/>
              </a:rPr>
              <a:t>Defect Relocation Technique:</a:t>
            </a:r>
            <a:endParaRPr lang="en-US" sz="36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B3226-C090-4045-ADCD-99EAF35CC601}"/>
              </a:ext>
            </a:extLst>
          </p:cNvPr>
          <p:cNvSpPr txBox="1"/>
          <p:nvPr/>
        </p:nvSpPr>
        <p:spPr>
          <a:xfrm>
            <a:off x="603681" y="673117"/>
            <a:ext cx="11283519" cy="5511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300" dirty="0">
              <a:solidFill>
                <a:schemeClr val="accent6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6"/>
                </a:solidFill>
              </a:rPr>
              <a:t>Overview: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6"/>
                </a:solidFill>
              </a:rPr>
              <a:t>Select the Image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Take an image containing the defect. 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US" sz="4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6"/>
                </a:solidFill>
              </a:rPr>
              <a:t>Mark the Defect Region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  <a:cs typeface="Arial"/>
              </a:rPr>
              <a:t>Draw an outline that follows exact defect shape</a:t>
            </a:r>
            <a:endParaRPr lang="en-US" sz="4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6"/>
                </a:solidFill>
              </a:rPr>
              <a:t>Remove the Defect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Remove the identified defect region from the image.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4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sz="1800" dirty="0" err="1">
                <a:solidFill>
                  <a:schemeClr val="accent6"/>
                </a:solidFill>
              </a:rPr>
              <a:t>npaint</a:t>
            </a:r>
            <a:r>
              <a:rPr lang="en-US" sz="1800" dirty="0">
                <a:solidFill>
                  <a:schemeClr val="accent6"/>
                </a:solidFill>
              </a:rPr>
              <a:t> the Defect Region </a:t>
            </a:r>
            <a:endParaRPr lang="en-US" dirty="0">
              <a:solidFill>
                <a:schemeClr val="accent6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Fill the removed defect region with textured lens pixels to reconstruct the lens. 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400" dirty="0">
              <a:solidFill>
                <a:schemeClr val="accent6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accent6"/>
                </a:solidFill>
              </a:rPr>
              <a:t>Reinsert the Defect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Add the defect back into the lens at new region, to create the augmented image.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Defect is added </a:t>
            </a:r>
            <a:r>
              <a:rPr lang="en-US" b="0" dirty="0">
                <a:solidFill>
                  <a:schemeClr val="accent6"/>
                </a:solidFill>
                <a:effectLst/>
              </a:rPr>
              <a:t>at random but always within a safe range of the lens</a:t>
            </a:r>
            <a:endParaRPr lang="en-US" sz="1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0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00170-CDEE-4D07-B11C-966C646B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2848" y="2655564"/>
            <a:ext cx="6148426" cy="840823"/>
          </a:xfrm>
        </p:spPr>
        <p:txBody>
          <a:bodyPr>
            <a:normAutofit/>
          </a:bodyPr>
          <a:lstStyle/>
          <a:p>
            <a:r>
              <a:rPr lang="en-US" sz="40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65517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195307-F4AE-427F-A5C9-D220D82195CE}"/>
              </a:ext>
            </a:extLst>
          </p:cNvPr>
          <p:cNvSpPr txBox="1"/>
          <p:nvPr/>
        </p:nvSpPr>
        <p:spPr>
          <a:xfrm>
            <a:off x="701336" y="135921"/>
            <a:ext cx="10641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Dataset Augmentation Summary by Defect Class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DF0A486-37C4-4A94-93E4-3E3ACE6CE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839915"/>
              </p:ext>
            </p:extLst>
          </p:nvPr>
        </p:nvGraphicFramePr>
        <p:xfrm>
          <a:off x="1904508" y="782252"/>
          <a:ext cx="7470311" cy="54864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631111">
                  <a:extLst>
                    <a:ext uri="{9D8B030D-6E8A-4147-A177-3AD203B41FA5}">
                      <a16:colId xmlns:a16="http://schemas.microsoft.com/office/drawing/2014/main" val="3979932833"/>
                    </a:ext>
                  </a:extLst>
                </a:gridCol>
                <a:gridCol w="1383519">
                  <a:extLst>
                    <a:ext uri="{9D8B030D-6E8A-4147-A177-3AD203B41FA5}">
                      <a16:colId xmlns:a16="http://schemas.microsoft.com/office/drawing/2014/main" val="2659290538"/>
                    </a:ext>
                  </a:extLst>
                </a:gridCol>
                <a:gridCol w="923256">
                  <a:extLst>
                    <a:ext uri="{9D8B030D-6E8A-4147-A177-3AD203B41FA5}">
                      <a16:colId xmlns:a16="http://schemas.microsoft.com/office/drawing/2014/main" val="475362662"/>
                    </a:ext>
                  </a:extLst>
                </a:gridCol>
                <a:gridCol w="683499">
                  <a:extLst>
                    <a:ext uri="{9D8B030D-6E8A-4147-A177-3AD203B41FA5}">
                      <a16:colId xmlns:a16="http://schemas.microsoft.com/office/drawing/2014/main" val="393328823"/>
                    </a:ext>
                  </a:extLst>
                </a:gridCol>
                <a:gridCol w="2848926">
                  <a:extLst>
                    <a:ext uri="{9D8B030D-6E8A-4147-A177-3AD203B41FA5}">
                      <a16:colId xmlns:a16="http://schemas.microsoft.com/office/drawing/2014/main" val="586898658"/>
                    </a:ext>
                  </a:extLst>
                </a:gridCol>
              </a:tblGrid>
              <a:tr h="222760">
                <a:tc>
                  <a:txBody>
                    <a:bodyPr/>
                    <a:lstStyle/>
                    <a:p>
                      <a:r>
                        <a:rPr lang="en-US" sz="900" dirty="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Original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Augmented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3548266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40109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 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7042510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 Irregular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011593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 On 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834300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 On Edge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254748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Bubble Scatter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6154665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Cavity Off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859018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Dirty Camera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75093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Dirty Strobe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56402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Extraneous Polymer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02282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Fiber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5235542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Foreign Matter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82994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HEMA Fragment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183189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HEMA Obstruction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174981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Lens Off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577584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Low Dose ROI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11930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Missing Lens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794383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Missing Primary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1,142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979355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Multiple Lenses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1,151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303972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Package Misalignment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234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20108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View Obstructed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001372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/>
                        <a:t>Wet Package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dirty="0"/>
                        <a:t>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Defect Relocation + Photometric and Geometric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232000"/>
                  </a:ext>
                </a:extLst>
              </a:tr>
              <a:tr h="222760">
                <a:tc>
                  <a:txBody>
                    <a:bodyPr/>
                    <a:lstStyle/>
                    <a:p>
                      <a:r>
                        <a:rPr lang="en-US" sz="900" b="1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6,774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/>
                        <a:t>7,475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 dirty="0"/>
                        <a:t>701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752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92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BDD37F7-E124-4FA4-992F-A3C83E0B101B}"/>
              </a:ext>
            </a:extLst>
          </p:cNvPr>
          <p:cNvSpPr txBox="1"/>
          <p:nvPr/>
        </p:nvSpPr>
        <p:spPr>
          <a:xfrm>
            <a:off x="496188" y="298174"/>
            <a:ext cx="1103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Augmentation Improves Overall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FBB88-C790-40B4-86A0-3AC564C4FDA1}"/>
              </a:ext>
            </a:extLst>
          </p:cNvPr>
          <p:cNvSpPr txBox="1"/>
          <p:nvPr/>
        </p:nvSpPr>
        <p:spPr>
          <a:xfrm>
            <a:off x="496188" y="1534157"/>
            <a:ext cx="1700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Original: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DDFC72-6B1E-4CC8-B31F-6BB50431B9D0}"/>
              </a:ext>
            </a:extLst>
          </p:cNvPr>
          <p:cNvSpPr txBox="1"/>
          <p:nvPr/>
        </p:nvSpPr>
        <p:spPr>
          <a:xfrm>
            <a:off x="496188" y="3217936"/>
            <a:ext cx="1855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Augmented: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5505C-3DC1-4FB4-AAB2-F500E186F14E}"/>
              </a:ext>
            </a:extLst>
          </p:cNvPr>
          <p:cNvSpPr txBox="1"/>
          <p:nvPr/>
        </p:nvSpPr>
        <p:spPr>
          <a:xfrm>
            <a:off x="496188" y="901810"/>
            <a:ext cx="69956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Model results Original vs Augmented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B271D3A-53BD-455E-978F-90092FCA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188" y="5192655"/>
            <a:ext cx="88152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For the original, we used </a:t>
            </a:r>
            <a:r>
              <a:rPr lang="en-US" altLang="en-US" b="0" dirty="0">
                <a:solidFill>
                  <a:schemeClr val="accent6"/>
                </a:solidFill>
                <a:latin typeface="Arial" panose="020B0604020202020204" pitchFamily="34" charset="0"/>
              </a:rPr>
              <a:t>6,77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4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 images for training.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For the augmented, we used </a:t>
            </a:r>
            <a:r>
              <a:rPr lang="en-US" altLang="en-US" b="0" dirty="0">
                <a:solidFill>
                  <a:schemeClr val="accent6"/>
                </a:solidFill>
                <a:latin typeface="Arial" panose="020B0604020202020204" pitchFamily="34" charset="0"/>
              </a:rPr>
              <a:t>6,774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 original + 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601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 augmented images for training.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same </a:t>
            </a:r>
            <a:r>
              <a:rPr lang="en-US" altLang="en-US" dirty="0">
                <a:solidFill>
                  <a:schemeClr val="accent6"/>
                </a:solidFill>
                <a:latin typeface="Arial" panose="020B0604020202020204" pitchFamily="34" charset="0"/>
              </a:rPr>
              <a:t>1693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 images were used as the test set for both models.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A937AB-BC0F-4B24-8147-C7E07DBD9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41" y="1982723"/>
            <a:ext cx="11718524" cy="10711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AE4F58-8EB7-4230-B25F-F223BA57A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42" y="3848059"/>
            <a:ext cx="11718524" cy="117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9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758F-D18A-44EE-9CE8-B255DE31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-apple-system"/>
              </a:rPr>
              <a:t>Average recall changes improves for most defect types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9A1B5-2252-4E36-8A4C-502FEEE98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839" y="1476274"/>
            <a:ext cx="7220321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558C6-555B-4569-B8EB-26F9C325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9979" y="3008588"/>
            <a:ext cx="4412042" cy="840823"/>
          </a:xfrm>
        </p:spPr>
        <p:txBody>
          <a:bodyPr>
            <a:normAutofit/>
          </a:bodyPr>
          <a:lstStyle/>
          <a:p>
            <a:r>
              <a:rPr lang="en-US" sz="4000" dirty="0"/>
              <a:t>Multi Label Model</a:t>
            </a:r>
          </a:p>
        </p:txBody>
      </p:sp>
    </p:spTree>
    <p:extLst>
      <p:ext uri="{BB962C8B-B14F-4D97-AF65-F5344CB8AC3E}">
        <p14:creationId xmlns:p14="http://schemas.microsoft.com/office/powerpoint/2010/main" val="144920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0DA5-5ED6-1E96-B0C5-83922005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built a multi-label model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B32BE-E942-AAA0-4CA5-1BED6C25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>
              <a:lnSpc>
                <a:spcPct val="100000"/>
              </a:lnSpc>
            </a:pPr>
            <a:r>
              <a:rPr lang="en-US" dirty="0"/>
              <a:t>Real images can carry more than one defect tag at once: of 3,377 lens images, 178 carry two tags together.</a:t>
            </a:r>
          </a:p>
          <a:p>
            <a:pPr>
              <a:lnSpc>
                <a:spcPct val="100000"/>
              </a:lnSpc>
            </a:pPr>
            <a:r>
              <a:rPr lang="en-US" dirty="0"/>
              <a:t>A standard model gives exactly one answer per image, so on those pictures it must drop a real label.</a:t>
            </a:r>
          </a:p>
          <a:p>
            <a:pPr>
              <a:lnSpc>
                <a:spcPct val="100000"/>
              </a:lnSpc>
            </a:pPr>
            <a:r>
              <a:rPr lang="en-US" dirty="0"/>
              <a:t>Our model answers all 5 tags independently: it can say “Multiple Lenses: yes” and “Folded Lens: yes” in the same picture.</a:t>
            </a:r>
          </a:p>
          <a:p>
            <a:pPr>
              <a:lnSpc>
                <a:spcPct val="100000"/>
              </a:lnSpc>
            </a:pPr>
            <a:r>
              <a:rPr lang="en-US" dirty="0"/>
              <a:t>First full run: 93.9% of test images came back fully correct (636 of 677).</a:t>
            </a:r>
          </a:p>
          <a:p>
            <a:pPr>
              <a:lnSpc>
                <a:spcPct val="100000"/>
              </a:lnSpc>
            </a:pPr>
            <a:r>
              <a:rPr lang="en-US" dirty="0"/>
              <a:t>4 of the 5 tags are learned almost perfectly; only one tag, Folded Lens, stays weak - and that is the story of the next slides.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95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5B47-325D-9D9F-A18B-2A90E5218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5" y="365126"/>
            <a:ext cx="11132930" cy="640760"/>
          </a:xfrm>
        </p:spPr>
        <p:txBody>
          <a:bodyPr/>
          <a:lstStyle/>
          <a:p>
            <a:r>
              <a:rPr lang="en-US" dirty="0"/>
              <a:t>Data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FA3F13-E644-02DB-24C0-3EA66E0BBE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844998"/>
              </p:ext>
            </p:extLst>
          </p:nvPr>
        </p:nvGraphicFramePr>
        <p:xfrm>
          <a:off x="529535" y="1551641"/>
          <a:ext cx="1113293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4440">
                  <a:extLst>
                    <a:ext uri="{9D8B030D-6E8A-4147-A177-3AD203B41FA5}">
                      <a16:colId xmlns:a16="http://schemas.microsoft.com/office/drawing/2014/main" val="3141586539"/>
                    </a:ext>
                  </a:extLst>
                </a:gridCol>
                <a:gridCol w="2226586">
                  <a:extLst>
                    <a:ext uri="{9D8B030D-6E8A-4147-A177-3AD203B41FA5}">
                      <a16:colId xmlns:a16="http://schemas.microsoft.com/office/drawing/2014/main" val="3272117530"/>
                    </a:ext>
                  </a:extLst>
                </a:gridCol>
                <a:gridCol w="2671904">
                  <a:extLst>
                    <a:ext uri="{9D8B030D-6E8A-4147-A177-3AD203B41FA5}">
                      <a16:colId xmlns:a16="http://schemas.microsoft.com/office/drawing/2014/main" val="3464729007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Label distribution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Images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Share of the 3,377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5696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Single-tag images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3,199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94.7%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51259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Two-tag images (Folded Lens + Multiple Lenses)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5.3%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0998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Three or more tags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64316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50" b="1" dirty="0">
                          <a:solidFill>
                            <a:srgbClr val="22303F"/>
                          </a:solidFill>
                        </a:rPr>
                        <a:t>Total images used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3,377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100%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015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F6471E-AB2C-A3D4-A6D7-552E0B34037B}"/>
              </a:ext>
            </a:extLst>
          </p:cNvPr>
          <p:cNvSpPr txBox="1"/>
          <p:nvPr/>
        </p:nvSpPr>
        <p:spPr>
          <a:xfrm>
            <a:off x="529534" y="1074579"/>
            <a:ext cx="11132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595959"/>
                </a:solidFill>
              </a:rPr>
              <a:t>All 3,377 lens-presentation images used, and how the tags overlap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2AC968-3BD7-B1C8-0DA8-707FC647D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2220"/>
              </p:ext>
            </p:extLst>
          </p:nvPr>
        </p:nvGraphicFramePr>
        <p:xfrm>
          <a:off x="529535" y="3854824"/>
          <a:ext cx="11132929" cy="226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5196">
                  <a:extLst>
                    <a:ext uri="{9D8B030D-6E8A-4147-A177-3AD203B41FA5}">
                      <a16:colId xmlns:a16="http://schemas.microsoft.com/office/drawing/2014/main" val="3890737878"/>
                    </a:ext>
                  </a:extLst>
                </a:gridCol>
                <a:gridCol w="3228549">
                  <a:extLst>
                    <a:ext uri="{9D8B030D-6E8A-4147-A177-3AD203B41FA5}">
                      <a16:colId xmlns:a16="http://schemas.microsoft.com/office/drawing/2014/main" val="1355750267"/>
                    </a:ext>
                  </a:extLst>
                </a:gridCol>
                <a:gridCol w="4119184">
                  <a:extLst>
                    <a:ext uri="{9D8B030D-6E8A-4147-A177-3AD203B41FA5}">
                      <a16:colId xmlns:a16="http://schemas.microsoft.com/office/drawing/2014/main" val="154742291"/>
                    </a:ext>
                  </a:extLst>
                </a:gridCol>
              </a:tblGrid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Tag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Images carrying the tag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With another tag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782776"/>
                  </a:ext>
                </a:extLst>
              </a:tr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Multiple Lenses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1,442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178 (Folded Lens)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830427"/>
                  </a:ext>
                </a:extLst>
              </a:tr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Primary Package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1,427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510562"/>
                  </a:ext>
                </a:extLst>
              </a:tr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Missing Lens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325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027053"/>
                  </a:ext>
                </a:extLst>
              </a:tr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Cavity Off Center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42333"/>
                  </a:ext>
                </a:extLst>
              </a:tr>
              <a:tr h="377892">
                <a:tc>
                  <a:txBody>
                    <a:bodyPr/>
                    <a:lstStyle/>
                    <a:p>
                      <a:pPr algn="l"/>
                      <a:r>
                        <a:rPr sz="1350" b="1" dirty="0">
                          <a:solidFill>
                            <a:srgbClr val="22303F"/>
                          </a:solidFill>
                        </a:rPr>
                        <a:t>Folded Lens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178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178 (always with Multiple Lenses)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771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68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ED10-61E6-E383-3905-59EFC8FC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5" y="248988"/>
            <a:ext cx="11132930" cy="840823"/>
          </a:xfrm>
        </p:spPr>
        <p:txBody>
          <a:bodyPr/>
          <a:lstStyle/>
          <a:p>
            <a:r>
              <a:rPr lang="en-US" dirty="0"/>
              <a:t>How we read the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96BD0-8DDA-9840-A907-CDD7BC9EC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5" y="1162963"/>
            <a:ext cx="11132930" cy="2088744"/>
          </a:xfrm>
        </p:spPr>
        <p:txBody>
          <a:bodyPr anchor="t">
            <a:normAutofit/>
          </a:bodyPr>
          <a:lstStyle/>
          <a:p>
            <a:r>
              <a:rPr lang="en-US" dirty="0"/>
              <a:t>Accuracy is misleading here. </a:t>
            </a:r>
          </a:p>
          <a:p>
            <a:pPr lvl="1"/>
            <a:r>
              <a:rPr lang="en-US" dirty="0"/>
              <a:t>Most answers are 'not present', so a model that says 'no' to everything still scores better accuracy while detecting nothing.</a:t>
            </a:r>
          </a:p>
          <a:p>
            <a:r>
              <a:rPr lang="en-US" dirty="0"/>
              <a:t>We use AUPRC as the primary measurement: </a:t>
            </a:r>
          </a:p>
          <a:p>
            <a:pPr lvl="1"/>
            <a:r>
              <a:rPr lang="en-US" dirty="0"/>
              <a:t>It scores each tag separately and averages them, so rare tags count as much as common ones.</a:t>
            </a:r>
          </a:p>
        </p:txBody>
      </p:sp>
      <p:sp>
        <p:nvSpPr>
          <p:cNvPr id="90" name="Rounded Rectangle 3">
            <a:extLst>
              <a:ext uri="{FF2B5EF4-FFF2-40B4-BE49-F238E27FC236}">
                <a16:creationId xmlns:a16="http://schemas.microsoft.com/office/drawing/2014/main" id="{816EE141-5CB4-5795-018A-C35EE8C7AD8E}"/>
              </a:ext>
            </a:extLst>
          </p:cNvPr>
          <p:cNvSpPr/>
          <p:nvPr/>
        </p:nvSpPr>
        <p:spPr>
          <a:xfrm>
            <a:off x="570793" y="3454455"/>
            <a:ext cx="5394960" cy="2596896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11CB20FD-6F29-5B3A-84F7-18D0A20807A8}"/>
              </a:ext>
            </a:extLst>
          </p:cNvPr>
          <p:cNvSpPr/>
          <p:nvPr/>
        </p:nvSpPr>
        <p:spPr>
          <a:xfrm>
            <a:off x="643945" y="3527607"/>
            <a:ext cx="5248656" cy="457200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6E9DEC-AB9B-F57C-EA7A-2379613D2BD1}"/>
              </a:ext>
            </a:extLst>
          </p:cNvPr>
          <p:cNvSpPr txBox="1"/>
          <p:nvPr/>
        </p:nvSpPr>
        <p:spPr>
          <a:xfrm>
            <a:off x="845112" y="4057959"/>
            <a:ext cx="4846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 dirty="0">
                <a:solidFill>
                  <a:srgbClr val="C0504D"/>
                </a:solidFill>
              </a:rPr>
              <a:t>79%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A389892-D3B0-A4B8-E99D-80BCD93280B2}"/>
              </a:ext>
            </a:extLst>
          </p:cNvPr>
          <p:cNvSpPr txBox="1"/>
          <p:nvPr/>
        </p:nvSpPr>
        <p:spPr>
          <a:xfrm>
            <a:off x="936553" y="4775424"/>
            <a:ext cx="46634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dirty="0">
                <a:solidFill>
                  <a:srgbClr val="22303F"/>
                </a:solidFill>
              </a:rPr>
              <a:t>A model that answers "No" to every tag reaches 79% accuracy while detecting nothing.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39372D5-1FCA-E98C-D1C5-F8311A0A1674}"/>
              </a:ext>
            </a:extLst>
          </p:cNvPr>
          <p:cNvSpPr txBox="1"/>
          <p:nvPr/>
        </p:nvSpPr>
        <p:spPr>
          <a:xfrm>
            <a:off x="936553" y="5434017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 dirty="0">
                <a:solidFill>
                  <a:srgbClr val="C0504D"/>
                </a:solidFill>
              </a:rPr>
              <a:t>High score, zero value</a:t>
            </a:r>
          </a:p>
        </p:txBody>
      </p:sp>
      <p:sp>
        <p:nvSpPr>
          <p:cNvPr id="95" name="Rounded Rectangle 8">
            <a:extLst>
              <a:ext uri="{FF2B5EF4-FFF2-40B4-BE49-F238E27FC236}">
                <a16:creationId xmlns:a16="http://schemas.microsoft.com/office/drawing/2014/main" id="{D8BF4A21-0035-AEA9-C1BF-C3C0996971D2}"/>
              </a:ext>
            </a:extLst>
          </p:cNvPr>
          <p:cNvSpPr/>
          <p:nvPr/>
        </p:nvSpPr>
        <p:spPr>
          <a:xfrm>
            <a:off x="6267505" y="3454455"/>
            <a:ext cx="5394960" cy="2596896"/>
          </a:xfrm>
          <a:prstGeom prst="roundRect">
            <a:avLst>
              <a:gd name="adj" fmla="val 591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6" name="Rounded Rectangle 9">
            <a:extLst>
              <a:ext uri="{FF2B5EF4-FFF2-40B4-BE49-F238E27FC236}">
                <a16:creationId xmlns:a16="http://schemas.microsoft.com/office/drawing/2014/main" id="{3DA6EF01-49E2-CE44-9475-49530470C0EE}"/>
              </a:ext>
            </a:extLst>
          </p:cNvPr>
          <p:cNvSpPr/>
          <p:nvPr/>
        </p:nvSpPr>
        <p:spPr>
          <a:xfrm>
            <a:off x="6340657" y="3527607"/>
            <a:ext cx="5248656" cy="457200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AUPRC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66BE39-2062-23BC-03BB-EA386A9874A2}"/>
              </a:ext>
            </a:extLst>
          </p:cNvPr>
          <p:cNvSpPr txBox="1"/>
          <p:nvPr/>
        </p:nvSpPr>
        <p:spPr>
          <a:xfrm>
            <a:off x="6541825" y="4076247"/>
            <a:ext cx="4846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4F8150"/>
                </a:solidFill>
              </a:rPr>
              <a:t>0.90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1A0E115-DC8C-7F09-ECA3-D10AE8991BB3}"/>
              </a:ext>
            </a:extLst>
          </p:cNvPr>
          <p:cNvSpPr txBox="1"/>
          <p:nvPr/>
        </p:nvSpPr>
        <p:spPr>
          <a:xfrm>
            <a:off x="6587545" y="4677854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Multiple Lenses</a:t>
            </a:r>
          </a:p>
        </p:txBody>
      </p:sp>
      <p:sp>
        <p:nvSpPr>
          <p:cNvPr id="99" name="Rounded Rectangle 12">
            <a:extLst>
              <a:ext uri="{FF2B5EF4-FFF2-40B4-BE49-F238E27FC236}">
                <a16:creationId xmlns:a16="http://schemas.microsoft.com/office/drawing/2014/main" id="{1F2FC314-8FAE-D97F-6497-59965B1C819F}"/>
              </a:ext>
            </a:extLst>
          </p:cNvPr>
          <p:cNvSpPr/>
          <p:nvPr/>
        </p:nvSpPr>
        <p:spPr>
          <a:xfrm>
            <a:off x="8736385" y="4705286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0" name="Rounded Rectangle 13">
            <a:extLst>
              <a:ext uri="{FF2B5EF4-FFF2-40B4-BE49-F238E27FC236}">
                <a16:creationId xmlns:a16="http://schemas.microsoft.com/office/drawing/2014/main" id="{9B0837F6-3D0F-4022-1224-EDB1F09506B6}"/>
              </a:ext>
            </a:extLst>
          </p:cNvPr>
          <p:cNvSpPr/>
          <p:nvPr/>
        </p:nvSpPr>
        <p:spPr>
          <a:xfrm>
            <a:off x="8736385" y="4705286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47F0042-DDBA-1A3A-63AE-564E9F5E7C01}"/>
              </a:ext>
            </a:extLst>
          </p:cNvPr>
          <p:cNvSpPr txBox="1"/>
          <p:nvPr/>
        </p:nvSpPr>
        <p:spPr>
          <a:xfrm>
            <a:off x="10894369" y="4677854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020D859-7979-431C-5007-B43D97ADB55C}"/>
              </a:ext>
            </a:extLst>
          </p:cNvPr>
          <p:cNvSpPr txBox="1"/>
          <p:nvPr/>
        </p:nvSpPr>
        <p:spPr>
          <a:xfrm>
            <a:off x="6587545" y="4952173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>
                <a:solidFill>
                  <a:srgbClr val="22303F"/>
                </a:solidFill>
              </a:rPr>
              <a:t>Missing Primary Package</a:t>
            </a:r>
          </a:p>
        </p:txBody>
      </p:sp>
      <p:sp>
        <p:nvSpPr>
          <p:cNvPr id="103" name="Rounded Rectangle 16">
            <a:extLst>
              <a:ext uri="{FF2B5EF4-FFF2-40B4-BE49-F238E27FC236}">
                <a16:creationId xmlns:a16="http://schemas.microsoft.com/office/drawing/2014/main" id="{5A70C70A-B67E-D684-DA72-60392B4E8B71}"/>
              </a:ext>
            </a:extLst>
          </p:cNvPr>
          <p:cNvSpPr/>
          <p:nvPr/>
        </p:nvSpPr>
        <p:spPr>
          <a:xfrm>
            <a:off x="8736385" y="4979606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4" name="Rounded Rectangle 17">
            <a:extLst>
              <a:ext uri="{FF2B5EF4-FFF2-40B4-BE49-F238E27FC236}">
                <a16:creationId xmlns:a16="http://schemas.microsoft.com/office/drawing/2014/main" id="{D711C6B6-26E5-56F6-8CF8-9142487249CB}"/>
              </a:ext>
            </a:extLst>
          </p:cNvPr>
          <p:cNvSpPr/>
          <p:nvPr/>
        </p:nvSpPr>
        <p:spPr>
          <a:xfrm>
            <a:off x="8736385" y="4979606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2FEC317-7F97-3DF3-1054-CE09895A30A3}"/>
              </a:ext>
            </a:extLst>
          </p:cNvPr>
          <p:cNvSpPr txBox="1"/>
          <p:nvPr/>
        </p:nvSpPr>
        <p:spPr>
          <a:xfrm>
            <a:off x="10894369" y="4952173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101D1FC-D6C2-31DF-8C36-D1C2BE0832AD}"/>
              </a:ext>
            </a:extLst>
          </p:cNvPr>
          <p:cNvSpPr txBox="1"/>
          <p:nvPr/>
        </p:nvSpPr>
        <p:spPr>
          <a:xfrm>
            <a:off x="6587545" y="5226493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Missing Lens</a:t>
            </a:r>
          </a:p>
        </p:txBody>
      </p:sp>
      <p:sp>
        <p:nvSpPr>
          <p:cNvPr id="107" name="Rounded Rectangle 20">
            <a:extLst>
              <a:ext uri="{FF2B5EF4-FFF2-40B4-BE49-F238E27FC236}">
                <a16:creationId xmlns:a16="http://schemas.microsoft.com/office/drawing/2014/main" id="{788355B2-0BEB-6A0B-862E-FECD45ECAC64}"/>
              </a:ext>
            </a:extLst>
          </p:cNvPr>
          <p:cNvSpPr/>
          <p:nvPr/>
        </p:nvSpPr>
        <p:spPr>
          <a:xfrm>
            <a:off x="8736385" y="5253925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8" name="Rounded Rectangle 21">
            <a:extLst>
              <a:ext uri="{FF2B5EF4-FFF2-40B4-BE49-F238E27FC236}">
                <a16:creationId xmlns:a16="http://schemas.microsoft.com/office/drawing/2014/main" id="{9165F99E-9C8F-03FA-9A66-83642313A40F}"/>
              </a:ext>
            </a:extLst>
          </p:cNvPr>
          <p:cNvSpPr/>
          <p:nvPr/>
        </p:nvSpPr>
        <p:spPr>
          <a:xfrm>
            <a:off x="8736385" y="5253925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945149C-1F4C-93EE-1A64-C5484C6152EC}"/>
              </a:ext>
            </a:extLst>
          </p:cNvPr>
          <p:cNvSpPr txBox="1"/>
          <p:nvPr/>
        </p:nvSpPr>
        <p:spPr>
          <a:xfrm>
            <a:off x="10894369" y="5226493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05B9629-6677-E1DE-E594-FE933325C328}"/>
              </a:ext>
            </a:extLst>
          </p:cNvPr>
          <p:cNvSpPr txBox="1"/>
          <p:nvPr/>
        </p:nvSpPr>
        <p:spPr>
          <a:xfrm>
            <a:off x="6587545" y="5500813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Cavity Off Center</a:t>
            </a:r>
          </a:p>
        </p:txBody>
      </p:sp>
      <p:sp>
        <p:nvSpPr>
          <p:cNvPr id="111" name="Rounded Rectangle 24">
            <a:extLst>
              <a:ext uri="{FF2B5EF4-FFF2-40B4-BE49-F238E27FC236}">
                <a16:creationId xmlns:a16="http://schemas.microsoft.com/office/drawing/2014/main" id="{5A370713-6FCA-781A-34DB-B971DD9F29DE}"/>
              </a:ext>
            </a:extLst>
          </p:cNvPr>
          <p:cNvSpPr/>
          <p:nvPr/>
        </p:nvSpPr>
        <p:spPr>
          <a:xfrm>
            <a:off x="8736385" y="5528245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2" name="Rounded Rectangle 25">
            <a:extLst>
              <a:ext uri="{FF2B5EF4-FFF2-40B4-BE49-F238E27FC236}">
                <a16:creationId xmlns:a16="http://schemas.microsoft.com/office/drawing/2014/main" id="{DE682909-EDFD-28B3-8F62-22237868AACC}"/>
              </a:ext>
            </a:extLst>
          </p:cNvPr>
          <p:cNvSpPr/>
          <p:nvPr/>
        </p:nvSpPr>
        <p:spPr>
          <a:xfrm>
            <a:off x="8736385" y="5528245"/>
            <a:ext cx="2103120" cy="164592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315CBA2-987D-40AD-AE7D-F0612BE4EDF5}"/>
              </a:ext>
            </a:extLst>
          </p:cNvPr>
          <p:cNvSpPr txBox="1"/>
          <p:nvPr/>
        </p:nvSpPr>
        <p:spPr>
          <a:xfrm>
            <a:off x="10894369" y="5500813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1.00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C292D78-D000-38B1-541B-EEFD62115C85}"/>
              </a:ext>
            </a:extLst>
          </p:cNvPr>
          <p:cNvSpPr txBox="1"/>
          <p:nvPr/>
        </p:nvSpPr>
        <p:spPr>
          <a:xfrm>
            <a:off x="6587545" y="5775133"/>
            <a:ext cx="20574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22303F"/>
                </a:solidFill>
              </a:rPr>
              <a:t>Folded Lens</a:t>
            </a:r>
          </a:p>
        </p:txBody>
      </p:sp>
      <p:sp>
        <p:nvSpPr>
          <p:cNvPr id="115" name="Rounded Rectangle 28">
            <a:extLst>
              <a:ext uri="{FF2B5EF4-FFF2-40B4-BE49-F238E27FC236}">
                <a16:creationId xmlns:a16="http://schemas.microsoft.com/office/drawing/2014/main" id="{CC2C1166-67A2-CDE0-574E-C9B0D5E2D521}"/>
              </a:ext>
            </a:extLst>
          </p:cNvPr>
          <p:cNvSpPr/>
          <p:nvPr/>
        </p:nvSpPr>
        <p:spPr>
          <a:xfrm>
            <a:off x="8736385" y="5802565"/>
            <a:ext cx="2103120" cy="164592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6" name="Rounded Rectangle 29">
            <a:extLst>
              <a:ext uri="{FF2B5EF4-FFF2-40B4-BE49-F238E27FC236}">
                <a16:creationId xmlns:a16="http://schemas.microsoft.com/office/drawing/2014/main" id="{EB8FF6D9-7597-54FA-60B4-093B5864C738}"/>
              </a:ext>
            </a:extLst>
          </p:cNvPr>
          <p:cNvSpPr/>
          <p:nvPr/>
        </p:nvSpPr>
        <p:spPr>
          <a:xfrm>
            <a:off x="8736385" y="5802565"/>
            <a:ext cx="1093622" cy="164592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2EC6929-329D-A595-65F9-2B91593E54D7}"/>
              </a:ext>
            </a:extLst>
          </p:cNvPr>
          <p:cNvSpPr txBox="1"/>
          <p:nvPr/>
        </p:nvSpPr>
        <p:spPr>
          <a:xfrm>
            <a:off x="10894369" y="5775133"/>
            <a:ext cx="45720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2303F"/>
                </a:solidFill>
              </a:rPr>
              <a:t>0.52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F850DF-BA90-C8F6-BD3C-299FAC25B918}"/>
              </a:ext>
            </a:extLst>
          </p:cNvPr>
          <p:cNvSpPr txBox="1"/>
          <p:nvPr/>
        </p:nvSpPr>
        <p:spPr>
          <a:xfrm>
            <a:off x="6477817" y="4440007"/>
            <a:ext cx="475488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dirty="0">
                <a:solidFill>
                  <a:srgbClr val="4F8150"/>
                </a:solidFill>
              </a:rPr>
              <a:t>Scores every tag separately: the weak tag is visible, not hidden</a:t>
            </a:r>
          </a:p>
        </p:txBody>
      </p:sp>
    </p:spTree>
    <p:extLst>
      <p:ext uri="{BB962C8B-B14F-4D97-AF65-F5344CB8AC3E}">
        <p14:creationId xmlns:p14="http://schemas.microsoft.com/office/powerpoint/2010/main" val="375374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5F712-3621-4A38-8D02-5389F05E7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51" y="232497"/>
            <a:ext cx="11132930" cy="840823"/>
          </a:xfrm>
        </p:spPr>
        <p:txBody>
          <a:bodyPr>
            <a:normAutofit/>
          </a:bodyPr>
          <a:lstStyle/>
          <a:p>
            <a:r>
              <a:rPr lang="en-US" dirty="0"/>
              <a:t>How the model works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9BD031D-4DB1-9648-0584-88C87F7B8C13}"/>
              </a:ext>
            </a:extLst>
          </p:cNvPr>
          <p:cNvSpPr txBox="1"/>
          <p:nvPr/>
        </p:nvSpPr>
        <p:spPr>
          <a:xfrm>
            <a:off x="397851" y="1217141"/>
            <a:ext cx="113659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dirty="0">
                <a:solidFill>
                  <a:srgbClr val="595959"/>
                </a:solidFill>
              </a:rPr>
              <a:t>A high-level overview: one picture in, five independent answers out</a:t>
            </a:r>
          </a:p>
        </p:txBody>
      </p:sp>
      <p:sp>
        <p:nvSpPr>
          <p:cNvPr id="130" name="Rounded Rectangle 3">
            <a:extLst>
              <a:ext uri="{FF2B5EF4-FFF2-40B4-BE49-F238E27FC236}">
                <a16:creationId xmlns:a16="http://schemas.microsoft.com/office/drawing/2014/main" id="{68BA1B3C-5D96-0F6C-2D41-164803EED80A}"/>
              </a:ext>
            </a:extLst>
          </p:cNvPr>
          <p:cNvSpPr/>
          <p:nvPr/>
        </p:nvSpPr>
        <p:spPr>
          <a:xfrm>
            <a:off x="377825" y="1663320"/>
            <a:ext cx="2008938" cy="2836606"/>
          </a:xfrm>
          <a:prstGeom prst="roundRect">
            <a:avLst>
              <a:gd name="adj" fmla="val 8188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4">
            <a:extLst>
              <a:ext uri="{FF2B5EF4-FFF2-40B4-BE49-F238E27FC236}">
                <a16:creationId xmlns:a16="http://schemas.microsoft.com/office/drawing/2014/main" id="{196278E5-4948-ECF4-2A3F-13DAB25BA80E}"/>
              </a:ext>
            </a:extLst>
          </p:cNvPr>
          <p:cNvSpPr/>
          <p:nvPr/>
        </p:nvSpPr>
        <p:spPr>
          <a:xfrm>
            <a:off x="484811" y="1747493"/>
            <a:ext cx="1837943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</a:rPr>
              <a:t>1  Image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633629A-DDD7-F81B-BD5D-34B5C804D70A}"/>
              </a:ext>
            </a:extLst>
          </p:cNvPr>
          <p:cNvSpPr txBox="1"/>
          <p:nvPr/>
        </p:nvSpPr>
        <p:spPr>
          <a:xfrm>
            <a:off x="512243" y="2241269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one photo from the line</a:t>
            </a:r>
          </a:p>
        </p:txBody>
      </p:sp>
      <p:sp>
        <p:nvSpPr>
          <p:cNvPr id="133" name="Rounded Rectangle 6">
            <a:extLst>
              <a:ext uri="{FF2B5EF4-FFF2-40B4-BE49-F238E27FC236}">
                <a16:creationId xmlns:a16="http://schemas.microsoft.com/office/drawing/2014/main" id="{49BDF05E-D924-704B-E619-6E48828CA212}"/>
              </a:ext>
            </a:extLst>
          </p:cNvPr>
          <p:cNvSpPr/>
          <p:nvPr/>
        </p:nvSpPr>
        <p:spPr>
          <a:xfrm>
            <a:off x="667691" y="2908781"/>
            <a:ext cx="1463040" cy="1188720"/>
          </a:xfrm>
          <a:prstGeom prst="roundRect">
            <a:avLst/>
          </a:prstGeom>
          <a:solidFill>
            <a:srgbClr val="E9EDF3"/>
          </a:solidFill>
          <a:ln w="12700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E52DF5DE-EDCF-B964-853B-B54F47DAD0B1}"/>
              </a:ext>
            </a:extLst>
          </p:cNvPr>
          <p:cNvSpPr/>
          <p:nvPr/>
        </p:nvSpPr>
        <p:spPr>
          <a:xfrm>
            <a:off x="969443" y="3109949"/>
            <a:ext cx="859536" cy="859536"/>
          </a:xfrm>
          <a:prstGeom prst="ellipse">
            <a:avLst/>
          </a:prstGeom>
          <a:solidFill>
            <a:srgbClr val="9DC3E6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9F139807-A1F3-3973-F78E-D8BB86D3EE94}"/>
              </a:ext>
            </a:extLst>
          </p:cNvPr>
          <p:cNvSpPr/>
          <p:nvPr/>
        </p:nvSpPr>
        <p:spPr>
          <a:xfrm>
            <a:off x="1170611" y="3311117"/>
            <a:ext cx="457200" cy="4572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FB7E0328-5482-27AA-8422-7BF353107CAF}"/>
              </a:ext>
            </a:extLst>
          </p:cNvPr>
          <p:cNvSpPr/>
          <p:nvPr/>
        </p:nvSpPr>
        <p:spPr>
          <a:xfrm>
            <a:off x="1271195" y="3393413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0">
            <a:extLst>
              <a:ext uri="{FF2B5EF4-FFF2-40B4-BE49-F238E27FC236}">
                <a16:creationId xmlns:a16="http://schemas.microsoft.com/office/drawing/2014/main" id="{A92008C7-0136-B3BE-F900-BBC20CFE4EBB}"/>
              </a:ext>
            </a:extLst>
          </p:cNvPr>
          <p:cNvSpPr/>
          <p:nvPr/>
        </p:nvSpPr>
        <p:spPr>
          <a:xfrm>
            <a:off x="2999411" y="1663320"/>
            <a:ext cx="2084832" cy="2836606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1">
            <a:extLst>
              <a:ext uri="{FF2B5EF4-FFF2-40B4-BE49-F238E27FC236}">
                <a16:creationId xmlns:a16="http://schemas.microsoft.com/office/drawing/2014/main" id="{690DB953-599F-AA08-01AF-2917450AA42E}"/>
              </a:ext>
            </a:extLst>
          </p:cNvPr>
          <p:cNvSpPr/>
          <p:nvPr/>
        </p:nvSpPr>
        <p:spPr>
          <a:xfrm>
            <a:off x="3090850" y="1747493"/>
            <a:ext cx="1929384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</a:rPr>
              <a:t>2  ResNet 50 model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C471DDA-75F9-E540-F5DC-45271A835F08}"/>
              </a:ext>
            </a:extLst>
          </p:cNvPr>
          <p:cNvSpPr txBox="1"/>
          <p:nvPr/>
        </p:nvSpPr>
        <p:spPr>
          <a:xfrm>
            <a:off x="3118283" y="2241269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a pre-trained network that reads the picture</a:t>
            </a:r>
          </a:p>
        </p:txBody>
      </p:sp>
      <p:sp>
        <p:nvSpPr>
          <p:cNvPr id="140" name="Rounded Rectangle 13">
            <a:extLst>
              <a:ext uri="{FF2B5EF4-FFF2-40B4-BE49-F238E27FC236}">
                <a16:creationId xmlns:a16="http://schemas.microsoft.com/office/drawing/2014/main" id="{BD01A074-AB56-B620-86E6-5024800D3023}"/>
              </a:ext>
            </a:extLst>
          </p:cNvPr>
          <p:cNvSpPr/>
          <p:nvPr/>
        </p:nvSpPr>
        <p:spPr>
          <a:xfrm>
            <a:off x="3278302" y="2908781"/>
            <a:ext cx="1554480" cy="310896"/>
          </a:xfrm>
          <a:prstGeom prst="roundRect">
            <a:avLst/>
          </a:prstGeom>
          <a:solidFill>
            <a:srgbClr val="9D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">
            <a:extLst>
              <a:ext uri="{FF2B5EF4-FFF2-40B4-BE49-F238E27FC236}">
                <a16:creationId xmlns:a16="http://schemas.microsoft.com/office/drawing/2014/main" id="{41BA344E-2A0E-1BF9-E90C-60DF99581D12}"/>
              </a:ext>
            </a:extLst>
          </p:cNvPr>
          <p:cNvSpPr/>
          <p:nvPr/>
        </p:nvSpPr>
        <p:spPr>
          <a:xfrm>
            <a:off x="3484043" y="3347693"/>
            <a:ext cx="1143000" cy="310896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5">
            <a:extLst>
              <a:ext uri="{FF2B5EF4-FFF2-40B4-BE49-F238E27FC236}">
                <a16:creationId xmlns:a16="http://schemas.microsoft.com/office/drawing/2014/main" id="{9E6DA97C-72DD-4AA3-1C16-44ACACEE6C90}"/>
              </a:ext>
            </a:extLst>
          </p:cNvPr>
          <p:cNvSpPr/>
          <p:nvPr/>
        </p:nvSpPr>
        <p:spPr>
          <a:xfrm>
            <a:off x="3666923" y="3786605"/>
            <a:ext cx="777240" cy="310896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6">
            <a:extLst>
              <a:ext uri="{FF2B5EF4-FFF2-40B4-BE49-F238E27FC236}">
                <a16:creationId xmlns:a16="http://schemas.microsoft.com/office/drawing/2014/main" id="{199FB5B3-9B60-DEAB-98C6-2343D85D058E}"/>
              </a:ext>
            </a:extLst>
          </p:cNvPr>
          <p:cNvSpPr/>
          <p:nvPr/>
        </p:nvSpPr>
        <p:spPr>
          <a:xfrm>
            <a:off x="5696890" y="1655358"/>
            <a:ext cx="2907793" cy="2844566"/>
          </a:xfrm>
          <a:prstGeom prst="roundRect">
            <a:avLst>
              <a:gd name="adj" fmla="val 5801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7">
            <a:extLst>
              <a:ext uri="{FF2B5EF4-FFF2-40B4-BE49-F238E27FC236}">
                <a16:creationId xmlns:a16="http://schemas.microsoft.com/office/drawing/2014/main" id="{D1811347-0B33-F2FB-BC0C-DBF6EDC2D696}"/>
              </a:ext>
            </a:extLst>
          </p:cNvPr>
          <p:cNvSpPr/>
          <p:nvPr/>
        </p:nvSpPr>
        <p:spPr>
          <a:xfrm>
            <a:off x="5788331" y="1747493"/>
            <a:ext cx="2752344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3  Five tag scores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C0666A-0506-ABF1-D108-DAFC655F0FC9}"/>
              </a:ext>
            </a:extLst>
          </p:cNvPr>
          <p:cNvSpPr txBox="1"/>
          <p:nvPr/>
        </p:nvSpPr>
        <p:spPr>
          <a:xfrm>
            <a:off x="5815763" y="2241269"/>
            <a:ext cx="26974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one 0-1 score per tag, cut at 0.5 (red line)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2D9CBD4-BE10-C1BD-B2A3-43A4149595A0}"/>
              </a:ext>
            </a:extLst>
          </p:cNvPr>
          <p:cNvSpPr txBox="1"/>
          <p:nvPr/>
        </p:nvSpPr>
        <p:spPr>
          <a:xfrm>
            <a:off x="5834051" y="2890493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Multiple Lenses</a:t>
            </a:r>
          </a:p>
        </p:txBody>
      </p:sp>
      <p:sp>
        <p:nvSpPr>
          <p:cNvPr id="147" name="Rounded Rectangle 20">
            <a:extLst>
              <a:ext uri="{FF2B5EF4-FFF2-40B4-BE49-F238E27FC236}">
                <a16:creationId xmlns:a16="http://schemas.microsoft.com/office/drawing/2014/main" id="{76FF4CDB-EF13-CB73-414F-4C3A98341FBA}"/>
              </a:ext>
            </a:extLst>
          </p:cNvPr>
          <p:cNvSpPr/>
          <p:nvPr/>
        </p:nvSpPr>
        <p:spPr>
          <a:xfrm>
            <a:off x="7205651" y="2917925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21">
            <a:extLst>
              <a:ext uri="{FF2B5EF4-FFF2-40B4-BE49-F238E27FC236}">
                <a16:creationId xmlns:a16="http://schemas.microsoft.com/office/drawing/2014/main" id="{E421FE08-59E3-82D3-1C89-57458148BCB9}"/>
              </a:ext>
            </a:extLst>
          </p:cNvPr>
          <p:cNvSpPr/>
          <p:nvPr/>
        </p:nvSpPr>
        <p:spPr>
          <a:xfrm>
            <a:off x="7205651" y="2917925"/>
            <a:ext cx="950518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FBAE54FF-D7DB-9F82-4D8C-611C7ABCB0B6}"/>
              </a:ext>
            </a:extLst>
          </p:cNvPr>
          <p:cNvSpPr/>
          <p:nvPr/>
        </p:nvSpPr>
        <p:spPr>
          <a:xfrm>
            <a:off x="7678395" y="2895065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6BE3EF5-9A37-85AC-22A1-CD61ACCDB540}"/>
              </a:ext>
            </a:extLst>
          </p:cNvPr>
          <p:cNvSpPr txBox="1"/>
          <p:nvPr/>
        </p:nvSpPr>
        <p:spPr>
          <a:xfrm>
            <a:off x="8211491" y="2899637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0.99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56A52F3-EA4C-31C7-A56B-ABBF006C1D87}"/>
              </a:ext>
            </a:extLst>
          </p:cNvPr>
          <p:cNvSpPr txBox="1"/>
          <p:nvPr/>
        </p:nvSpPr>
        <p:spPr>
          <a:xfrm>
            <a:off x="5834051" y="3201389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Folded Lens</a:t>
            </a:r>
          </a:p>
        </p:txBody>
      </p:sp>
      <p:sp>
        <p:nvSpPr>
          <p:cNvPr id="152" name="Rounded Rectangle 25">
            <a:extLst>
              <a:ext uri="{FF2B5EF4-FFF2-40B4-BE49-F238E27FC236}">
                <a16:creationId xmlns:a16="http://schemas.microsoft.com/office/drawing/2014/main" id="{1AAFAD45-FBE4-76F7-4AE9-57768171E1CD}"/>
              </a:ext>
            </a:extLst>
          </p:cNvPr>
          <p:cNvSpPr/>
          <p:nvPr/>
        </p:nvSpPr>
        <p:spPr>
          <a:xfrm>
            <a:off x="7205651" y="3228821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ounded Rectangle 26">
            <a:extLst>
              <a:ext uri="{FF2B5EF4-FFF2-40B4-BE49-F238E27FC236}">
                <a16:creationId xmlns:a16="http://schemas.microsoft.com/office/drawing/2014/main" id="{EEA6E6AA-A3A4-D17A-B322-8A4C79633706}"/>
              </a:ext>
            </a:extLst>
          </p:cNvPr>
          <p:cNvSpPr/>
          <p:nvPr/>
        </p:nvSpPr>
        <p:spPr>
          <a:xfrm>
            <a:off x="7205651" y="3228821"/>
            <a:ext cx="892911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93B1419-0B3A-3DED-690F-ED2D7D3E80BC}"/>
              </a:ext>
            </a:extLst>
          </p:cNvPr>
          <p:cNvSpPr/>
          <p:nvPr/>
        </p:nvSpPr>
        <p:spPr>
          <a:xfrm>
            <a:off x="7678395" y="3205961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652F0EC-1894-B7B6-9304-145556A4E00F}"/>
              </a:ext>
            </a:extLst>
          </p:cNvPr>
          <p:cNvSpPr txBox="1"/>
          <p:nvPr/>
        </p:nvSpPr>
        <p:spPr>
          <a:xfrm>
            <a:off x="8211491" y="3210533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0.93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DFE7216-5BC9-754C-CD25-B7EE1BEE78E9}"/>
              </a:ext>
            </a:extLst>
          </p:cNvPr>
          <p:cNvSpPr txBox="1"/>
          <p:nvPr/>
        </p:nvSpPr>
        <p:spPr>
          <a:xfrm>
            <a:off x="5834051" y="3512285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Missing Lens</a:t>
            </a:r>
          </a:p>
        </p:txBody>
      </p:sp>
      <p:sp>
        <p:nvSpPr>
          <p:cNvPr id="157" name="Rounded Rectangle 30">
            <a:extLst>
              <a:ext uri="{FF2B5EF4-FFF2-40B4-BE49-F238E27FC236}">
                <a16:creationId xmlns:a16="http://schemas.microsoft.com/office/drawing/2014/main" id="{23F7DC41-7587-3680-ED07-CBA7035FB08D}"/>
              </a:ext>
            </a:extLst>
          </p:cNvPr>
          <p:cNvSpPr/>
          <p:nvPr/>
        </p:nvSpPr>
        <p:spPr>
          <a:xfrm>
            <a:off x="7205651" y="3539717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31">
            <a:extLst>
              <a:ext uri="{FF2B5EF4-FFF2-40B4-BE49-F238E27FC236}">
                <a16:creationId xmlns:a16="http://schemas.microsoft.com/office/drawing/2014/main" id="{598DB4CF-06C3-C109-BD07-58C4927546B2}"/>
              </a:ext>
            </a:extLst>
          </p:cNvPr>
          <p:cNvSpPr/>
          <p:nvPr/>
        </p:nvSpPr>
        <p:spPr>
          <a:xfrm>
            <a:off x="7205651" y="3539717"/>
            <a:ext cx="134416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2D189978-FC35-510D-B52E-003FD07072FC}"/>
              </a:ext>
            </a:extLst>
          </p:cNvPr>
          <p:cNvSpPr/>
          <p:nvPr/>
        </p:nvSpPr>
        <p:spPr>
          <a:xfrm>
            <a:off x="7678395" y="3516857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EB7386D-32A9-D201-4873-9C4E00C30994}"/>
              </a:ext>
            </a:extLst>
          </p:cNvPr>
          <p:cNvSpPr txBox="1"/>
          <p:nvPr/>
        </p:nvSpPr>
        <p:spPr>
          <a:xfrm>
            <a:off x="8211491" y="3521429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0.14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E9C5FB6-FB67-5E29-DC2E-602BAA0A7911}"/>
              </a:ext>
            </a:extLst>
          </p:cNvPr>
          <p:cNvSpPr txBox="1"/>
          <p:nvPr/>
        </p:nvSpPr>
        <p:spPr>
          <a:xfrm>
            <a:off x="5834051" y="3823181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Cavity Off Center</a:t>
            </a:r>
          </a:p>
        </p:txBody>
      </p:sp>
      <p:sp>
        <p:nvSpPr>
          <p:cNvPr id="162" name="Rounded Rectangle 35">
            <a:extLst>
              <a:ext uri="{FF2B5EF4-FFF2-40B4-BE49-F238E27FC236}">
                <a16:creationId xmlns:a16="http://schemas.microsoft.com/office/drawing/2014/main" id="{9F582211-81C2-CA58-015A-CD4BE74FAE12}"/>
              </a:ext>
            </a:extLst>
          </p:cNvPr>
          <p:cNvSpPr/>
          <p:nvPr/>
        </p:nvSpPr>
        <p:spPr>
          <a:xfrm>
            <a:off x="7205651" y="3850613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ounded Rectangle 36">
            <a:extLst>
              <a:ext uri="{FF2B5EF4-FFF2-40B4-BE49-F238E27FC236}">
                <a16:creationId xmlns:a16="http://schemas.microsoft.com/office/drawing/2014/main" id="{1AA9981E-CF00-6696-44EE-77D264F9B28A}"/>
              </a:ext>
            </a:extLst>
          </p:cNvPr>
          <p:cNvSpPr/>
          <p:nvPr/>
        </p:nvSpPr>
        <p:spPr>
          <a:xfrm>
            <a:off x="7205651" y="3850613"/>
            <a:ext cx="96012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E6EE1C7-F825-CEC3-BD02-87342D98C387}"/>
              </a:ext>
            </a:extLst>
          </p:cNvPr>
          <p:cNvSpPr/>
          <p:nvPr/>
        </p:nvSpPr>
        <p:spPr>
          <a:xfrm>
            <a:off x="7678395" y="3827753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9B6839F-2C32-9920-4860-035D181F74B3}"/>
              </a:ext>
            </a:extLst>
          </p:cNvPr>
          <p:cNvSpPr txBox="1"/>
          <p:nvPr/>
        </p:nvSpPr>
        <p:spPr>
          <a:xfrm>
            <a:off x="8211491" y="3832325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0.10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A2D3F4F-5936-8C48-3BC9-A40435DF3436}"/>
              </a:ext>
            </a:extLst>
          </p:cNvPr>
          <p:cNvSpPr txBox="1"/>
          <p:nvPr/>
        </p:nvSpPr>
        <p:spPr>
          <a:xfrm>
            <a:off x="5834051" y="4134076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2303F"/>
                </a:solidFill>
              </a:rPr>
              <a:t>Missing Primary Package</a:t>
            </a:r>
          </a:p>
        </p:txBody>
      </p:sp>
      <p:sp>
        <p:nvSpPr>
          <p:cNvPr id="167" name="Rounded Rectangle 40">
            <a:extLst>
              <a:ext uri="{FF2B5EF4-FFF2-40B4-BE49-F238E27FC236}">
                <a16:creationId xmlns:a16="http://schemas.microsoft.com/office/drawing/2014/main" id="{C018D35A-2644-E682-3E3C-59C830F0F01C}"/>
              </a:ext>
            </a:extLst>
          </p:cNvPr>
          <p:cNvSpPr/>
          <p:nvPr/>
        </p:nvSpPr>
        <p:spPr>
          <a:xfrm>
            <a:off x="7205651" y="4161509"/>
            <a:ext cx="960120" cy="155448"/>
          </a:xfrm>
          <a:prstGeom prst="roundRect">
            <a:avLst/>
          </a:prstGeom>
          <a:solidFill>
            <a:srgbClr val="E9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41">
            <a:extLst>
              <a:ext uri="{FF2B5EF4-FFF2-40B4-BE49-F238E27FC236}">
                <a16:creationId xmlns:a16="http://schemas.microsoft.com/office/drawing/2014/main" id="{DC0DE11F-919F-E3F1-0FDE-ABD400C617EB}"/>
              </a:ext>
            </a:extLst>
          </p:cNvPr>
          <p:cNvSpPr/>
          <p:nvPr/>
        </p:nvSpPr>
        <p:spPr>
          <a:xfrm>
            <a:off x="7205651" y="4161509"/>
            <a:ext cx="115214" cy="1554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3C893326-6AAF-F272-6D73-F90EA6C6D418}"/>
              </a:ext>
            </a:extLst>
          </p:cNvPr>
          <p:cNvSpPr/>
          <p:nvPr/>
        </p:nvSpPr>
        <p:spPr>
          <a:xfrm>
            <a:off x="7678395" y="4138648"/>
            <a:ext cx="14630" cy="2011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8954D74-13EB-8FA8-9BD6-7C6B26F51471}"/>
              </a:ext>
            </a:extLst>
          </p:cNvPr>
          <p:cNvSpPr txBox="1"/>
          <p:nvPr/>
        </p:nvSpPr>
        <p:spPr>
          <a:xfrm>
            <a:off x="8211491" y="414322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22303F"/>
                </a:solidFill>
              </a:rPr>
              <a:t>0.12</a:t>
            </a:r>
          </a:p>
        </p:txBody>
      </p:sp>
      <p:sp>
        <p:nvSpPr>
          <p:cNvPr id="171" name="Rounded Rectangle 44">
            <a:extLst>
              <a:ext uri="{FF2B5EF4-FFF2-40B4-BE49-F238E27FC236}">
                <a16:creationId xmlns:a16="http://schemas.microsoft.com/office/drawing/2014/main" id="{7F679878-2EB8-127F-4DAE-F3AA562C63EF}"/>
              </a:ext>
            </a:extLst>
          </p:cNvPr>
          <p:cNvSpPr/>
          <p:nvPr/>
        </p:nvSpPr>
        <p:spPr>
          <a:xfrm>
            <a:off x="9244763" y="1655358"/>
            <a:ext cx="2542032" cy="284456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45">
            <a:extLst>
              <a:ext uri="{FF2B5EF4-FFF2-40B4-BE49-F238E27FC236}">
                <a16:creationId xmlns:a16="http://schemas.microsoft.com/office/drawing/2014/main" id="{4AC1D1BD-243D-4B9B-B1E4-CC1B0B1DF1F0}"/>
              </a:ext>
            </a:extLst>
          </p:cNvPr>
          <p:cNvSpPr/>
          <p:nvPr/>
        </p:nvSpPr>
        <p:spPr>
          <a:xfrm>
            <a:off x="9308771" y="1747493"/>
            <a:ext cx="2414015" cy="420624"/>
          </a:xfrm>
          <a:prstGeom prst="roundRect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4  Answer per tag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C001551-EC84-CE71-3600-AAAC343F5AAB}"/>
              </a:ext>
            </a:extLst>
          </p:cNvPr>
          <p:cNvSpPr txBox="1"/>
          <p:nvPr/>
        </p:nvSpPr>
        <p:spPr>
          <a:xfrm>
            <a:off x="9281340" y="2241269"/>
            <a:ext cx="23591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 dirty="0">
                <a:solidFill>
                  <a:srgbClr val="595959"/>
                </a:solidFill>
              </a:rPr>
              <a:t>one yes / no for each tag</a:t>
            </a:r>
          </a:p>
        </p:txBody>
      </p:sp>
      <p:sp>
        <p:nvSpPr>
          <p:cNvPr id="174" name="Rounded Rectangle 47">
            <a:extLst>
              <a:ext uri="{FF2B5EF4-FFF2-40B4-BE49-F238E27FC236}">
                <a16:creationId xmlns:a16="http://schemas.microsoft.com/office/drawing/2014/main" id="{54183F96-81A8-F64D-EADE-FF3A0111A86A}"/>
              </a:ext>
            </a:extLst>
          </p:cNvPr>
          <p:cNvSpPr/>
          <p:nvPr/>
        </p:nvSpPr>
        <p:spPr>
          <a:xfrm>
            <a:off x="9391067" y="2881349"/>
            <a:ext cx="2249424" cy="246888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375623"/>
                </a:solidFill>
              </a:rPr>
              <a:t>Multiple Lenses: Yes</a:t>
            </a:r>
          </a:p>
        </p:txBody>
      </p:sp>
      <p:sp>
        <p:nvSpPr>
          <p:cNvPr id="175" name="Rounded Rectangle 48">
            <a:extLst>
              <a:ext uri="{FF2B5EF4-FFF2-40B4-BE49-F238E27FC236}">
                <a16:creationId xmlns:a16="http://schemas.microsoft.com/office/drawing/2014/main" id="{FA50B441-76C5-668F-2E6D-E153613CCBCC}"/>
              </a:ext>
            </a:extLst>
          </p:cNvPr>
          <p:cNvSpPr/>
          <p:nvPr/>
        </p:nvSpPr>
        <p:spPr>
          <a:xfrm>
            <a:off x="9391067" y="3192245"/>
            <a:ext cx="2249424" cy="246888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1">
                <a:solidFill>
                  <a:srgbClr val="375623"/>
                </a:solidFill>
              </a:rPr>
              <a:t>Folded Lens: Yes</a:t>
            </a:r>
          </a:p>
        </p:txBody>
      </p:sp>
      <p:sp>
        <p:nvSpPr>
          <p:cNvPr id="176" name="Rounded Rectangle 49">
            <a:extLst>
              <a:ext uri="{FF2B5EF4-FFF2-40B4-BE49-F238E27FC236}">
                <a16:creationId xmlns:a16="http://schemas.microsoft.com/office/drawing/2014/main" id="{64901BD8-0346-0D1C-5319-CA2E3C142FC7}"/>
              </a:ext>
            </a:extLst>
          </p:cNvPr>
          <p:cNvSpPr/>
          <p:nvPr/>
        </p:nvSpPr>
        <p:spPr>
          <a:xfrm>
            <a:off x="9391067" y="3503141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Missing Lens: No</a:t>
            </a:r>
          </a:p>
        </p:txBody>
      </p:sp>
      <p:sp>
        <p:nvSpPr>
          <p:cNvPr id="177" name="Rounded Rectangle 50">
            <a:extLst>
              <a:ext uri="{FF2B5EF4-FFF2-40B4-BE49-F238E27FC236}">
                <a16:creationId xmlns:a16="http://schemas.microsoft.com/office/drawing/2014/main" id="{5FC9B6BD-1956-877F-BE8D-47754C80A617}"/>
              </a:ext>
            </a:extLst>
          </p:cNvPr>
          <p:cNvSpPr/>
          <p:nvPr/>
        </p:nvSpPr>
        <p:spPr>
          <a:xfrm>
            <a:off x="9391067" y="3814037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Cavity Off Center: No</a:t>
            </a:r>
          </a:p>
        </p:txBody>
      </p:sp>
      <p:sp>
        <p:nvSpPr>
          <p:cNvPr id="178" name="Rounded Rectangle 51">
            <a:extLst>
              <a:ext uri="{FF2B5EF4-FFF2-40B4-BE49-F238E27FC236}">
                <a16:creationId xmlns:a16="http://schemas.microsoft.com/office/drawing/2014/main" id="{584066C1-13E6-268B-829B-236B36EE7F30}"/>
              </a:ext>
            </a:extLst>
          </p:cNvPr>
          <p:cNvSpPr/>
          <p:nvPr/>
        </p:nvSpPr>
        <p:spPr>
          <a:xfrm>
            <a:off x="9391067" y="4124933"/>
            <a:ext cx="2249424" cy="246888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900" b="0">
                <a:solidFill>
                  <a:srgbClr val="595959"/>
                </a:solidFill>
              </a:rPr>
              <a:t>Missing Primary Package: No</a:t>
            </a:r>
          </a:p>
        </p:txBody>
      </p:sp>
      <p:sp>
        <p:nvSpPr>
          <p:cNvPr id="179" name="Right Arrow 52">
            <a:extLst>
              <a:ext uri="{FF2B5EF4-FFF2-40B4-BE49-F238E27FC236}">
                <a16:creationId xmlns:a16="http://schemas.microsoft.com/office/drawing/2014/main" id="{60C5358D-84B6-592F-04AE-25B959F8F474}"/>
              </a:ext>
            </a:extLst>
          </p:cNvPr>
          <p:cNvSpPr/>
          <p:nvPr/>
        </p:nvSpPr>
        <p:spPr>
          <a:xfrm>
            <a:off x="2459915" y="3114521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7CD9894-B3DF-A8E9-FF70-3C7762F03C55}"/>
              </a:ext>
            </a:extLst>
          </p:cNvPr>
          <p:cNvSpPr txBox="1"/>
          <p:nvPr/>
        </p:nvSpPr>
        <p:spPr>
          <a:xfrm>
            <a:off x="2094155" y="2940785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2E75B6"/>
                </a:solidFill>
              </a:rPr>
              <a:t>feeds</a:t>
            </a:r>
          </a:p>
        </p:txBody>
      </p:sp>
      <p:sp>
        <p:nvSpPr>
          <p:cNvPr id="181" name="Right Arrow 54">
            <a:extLst>
              <a:ext uri="{FF2B5EF4-FFF2-40B4-BE49-F238E27FC236}">
                <a16:creationId xmlns:a16="http://schemas.microsoft.com/office/drawing/2014/main" id="{E81B1DD3-4EC1-4928-8605-D3E7753A2374}"/>
              </a:ext>
            </a:extLst>
          </p:cNvPr>
          <p:cNvSpPr/>
          <p:nvPr/>
        </p:nvSpPr>
        <p:spPr>
          <a:xfrm>
            <a:off x="5157395" y="3114521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6F07290-3E46-E9C3-77B9-096ECA550D28}"/>
              </a:ext>
            </a:extLst>
          </p:cNvPr>
          <p:cNvSpPr txBox="1"/>
          <p:nvPr/>
        </p:nvSpPr>
        <p:spPr>
          <a:xfrm>
            <a:off x="4766945" y="291460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2E75B6"/>
                </a:solidFill>
              </a:rPr>
              <a:t>scores</a:t>
            </a:r>
          </a:p>
        </p:txBody>
      </p:sp>
      <p:sp>
        <p:nvSpPr>
          <p:cNvPr id="183" name="Right Arrow 56">
            <a:extLst>
              <a:ext uri="{FF2B5EF4-FFF2-40B4-BE49-F238E27FC236}">
                <a16:creationId xmlns:a16="http://schemas.microsoft.com/office/drawing/2014/main" id="{B3F51DD6-00E5-8A41-34D8-F87C50BCFDF6}"/>
              </a:ext>
            </a:extLst>
          </p:cNvPr>
          <p:cNvSpPr/>
          <p:nvPr/>
        </p:nvSpPr>
        <p:spPr>
          <a:xfrm>
            <a:off x="8677835" y="3114521"/>
            <a:ext cx="493776" cy="36576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97409F1-7EDE-E863-174A-9887742A4B0B}"/>
              </a:ext>
            </a:extLst>
          </p:cNvPr>
          <p:cNvSpPr txBox="1"/>
          <p:nvPr/>
        </p:nvSpPr>
        <p:spPr>
          <a:xfrm>
            <a:off x="8324446" y="2895065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2E75B6"/>
                </a:solidFill>
              </a:rPr>
              <a:t>0.5 cut</a:t>
            </a:r>
          </a:p>
        </p:txBody>
      </p:sp>
      <p:sp>
        <p:nvSpPr>
          <p:cNvPr id="185" name="Rounded Rectangle 58">
            <a:extLst>
              <a:ext uri="{FF2B5EF4-FFF2-40B4-BE49-F238E27FC236}">
                <a16:creationId xmlns:a16="http://schemas.microsoft.com/office/drawing/2014/main" id="{114D7FB1-DFB7-2839-990C-1F41181515C7}"/>
              </a:ext>
            </a:extLst>
          </p:cNvPr>
          <p:cNvSpPr/>
          <p:nvPr/>
        </p:nvSpPr>
        <p:spPr>
          <a:xfrm>
            <a:off x="397851" y="4870169"/>
            <a:ext cx="5491064" cy="123480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ounded Rectangle 59">
            <a:extLst>
              <a:ext uri="{FF2B5EF4-FFF2-40B4-BE49-F238E27FC236}">
                <a16:creationId xmlns:a16="http://schemas.microsoft.com/office/drawing/2014/main" id="{CC32F4F8-F3C1-623B-C6A2-8162DAC5892C}"/>
              </a:ext>
            </a:extLst>
          </p:cNvPr>
          <p:cNvSpPr/>
          <p:nvPr/>
        </p:nvSpPr>
        <p:spPr>
          <a:xfrm>
            <a:off x="466523" y="5018170"/>
            <a:ext cx="5358384" cy="384048"/>
          </a:xfrm>
          <a:prstGeom prst="round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Old way: one answer per picture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48D55C5-A9CB-A040-8E4A-C03B7FFDF45F}"/>
              </a:ext>
            </a:extLst>
          </p:cNvPr>
          <p:cNvSpPr txBox="1"/>
          <p:nvPr/>
        </p:nvSpPr>
        <p:spPr>
          <a:xfrm>
            <a:off x="567107" y="5538033"/>
            <a:ext cx="515721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22303F"/>
                </a:solidFill>
              </a:rPr>
              <a:t>The model picks the single most likely label. On the 178 pictures that carry two tags, one real label has to be dropped.</a:t>
            </a:r>
          </a:p>
        </p:txBody>
      </p:sp>
      <p:sp>
        <p:nvSpPr>
          <p:cNvPr id="188" name="Rounded Rectangle 61">
            <a:extLst>
              <a:ext uri="{FF2B5EF4-FFF2-40B4-BE49-F238E27FC236}">
                <a16:creationId xmlns:a16="http://schemas.microsoft.com/office/drawing/2014/main" id="{C7FF5BF0-56B7-7EF2-7DC4-93F75E9E7E3A}"/>
              </a:ext>
            </a:extLst>
          </p:cNvPr>
          <p:cNvSpPr/>
          <p:nvPr/>
        </p:nvSpPr>
        <p:spPr>
          <a:xfrm>
            <a:off x="6303087" y="4870169"/>
            <a:ext cx="5491062" cy="1234803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9C7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ounded Rectangle 62">
            <a:extLst>
              <a:ext uri="{FF2B5EF4-FFF2-40B4-BE49-F238E27FC236}">
                <a16:creationId xmlns:a16="http://schemas.microsoft.com/office/drawing/2014/main" id="{40EC12B4-4494-594A-D2A7-CF96A8B778D8}"/>
              </a:ext>
            </a:extLst>
          </p:cNvPr>
          <p:cNvSpPr/>
          <p:nvPr/>
        </p:nvSpPr>
        <p:spPr>
          <a:xfrm>
            <a:off x="6367204" y="5001308"/>
            <a:ext cx="5362937" cy="426997"/>
          </a:xfrm>
          <a:prstGeom prst="roundRect">
            <a:avLst/>
          </a:prstGeom>
          <a:solidFill>
            <a:srgbClr val="4F8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New</a:t>
            </a:r>
            <a:r>
              <a:rPr sz="1400" b="1" dirty="0">
                <a:solidFill>
                  <a:srgbClr val="FFFFFF"/>
                </a:solidFill>
              </a:rPr>
              <a:t> way: five independent answers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296D9B67-3862-B53F-0CD3-DA371344DA23}"/>
              </a:ext>
            </a:extLst>
          </p:cNvPr>
          <p:cNvSpPr txBox="1"/>
          <p:nvPr/>
        </p:nvSpPr>
        <p:spPr>
          <a:xfrm>
            <a:off x="6467959" y="5541171"/>
            <a:ext cx="516159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dirty="0">
                <a:solidFill>
                  <a:srgbClr val="22303F"/>
                </a:solidFill>
              </a:rPr>
              <a:t>Each tag is decided on its own, so a picture can answer Yes to both Multiple Lenses and Folded Lens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84784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4530-DF9C-9003-EAE1-1BC83E598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Results: Baseline vs MultiScale, and the Folded Lens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1893E-DC61-7B00-DB8D-886EA205E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5" y="1299883"/>
            <a:ext cx="11132930" cy="1900517"/>
          </a:xfrm>
        </p:spPr>
        <p:txBody>
          <a:bodyPr>
            <a:normAutofit/>
          </a:bodyPr>
          <a:lstStyle/>
          <a:p>
            <a:r>
              <a:rPr lang="en-US" dirty="0"/>
              <a:t>We compared two models on identical data:</a:t>
            </a:r>
          </a:p>
          <a:p>
            <a:pPr lvl="1"/>
            <a:r>
              <a:rPr lang="en-US" dirty="0"/>
              <a:t>ResNet 50 and the larger Multi Scale ResNet 50 model.</a:t>
            </a:r>
          </a:p>
          <a:p>
            <a:r>
              <a:rPr lang="en-US" dirty="0"/>
              <a:t>The larger model does not win:</a:t>
            </a:r>
          </a:p>
          <a:p>
            <a:pPr lvl="1"/>
            <a:r>
              <a:rPr lang="en-US" dirty="0"/>
              <a:t>ResNet 50 AUPRC 0.905 vs MultiScale 0.862 - more capacity did not add accuracy.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A2379E-A7C2-1381-6FD7-66F0AFA2A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156133"/>
              </p:ext>
            </p:extLst>
          </p:nvPr>
        </p:nvGraphicFramePr>
        <p:xfrm>
          <a:off x="1752600" y="3323635"/>
          <a:ext cx="868679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87255438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157599113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346931622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ResNet 50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MultiScale</a:t>
                      </a:r>
                    </a:p>
                  </a:txBody>
                  <a:tcPr marT="27432" marB="27432" anchor="ctr">
                    <a:solidFill>
                      <a:srgbClr val="1F3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8073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Overall score (AUPRC)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0.905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0.862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54447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303F"/>
                          </a:solidFill>
                        </a:rPr>
                        <a:t>Balance across tags (macro F1)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0.808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0.774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9477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Pictures fully correct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93.9%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92.5%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58089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Multiple Lenses found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 of 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289 of 289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078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2303F"/>
                          </a:solidFill>
                        </a:rPr>
                        <a:t>Folded Lens found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303F"/>
                          </a:solidFill>
                        </a:rPr>
                        <a:t>2 of 36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dirty="0">
                          <a:solidFill>
                            <a:srgbClr val="22303F"/>
                          </a:solidFill>
                        </a:rPr>
                        <a:t>0 of 36</a:t>
                      </a:r>
                    </a:p>
                  </a:txBody>
                  <a:tcPr marT="27432" marB="27432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726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57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D63C-FCD7-B6A3-D4D7-2342AF65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B9FE-263E-1B27-6381-C18727CDB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>
              <a:lnSpc>
                <a:spcPct val="100000"/>
              </a:lnSpc>
            </a:pPr>
            <a:r>
              <a:rPr lang="en-US" dirty="0"/>
              <a:t>Both models failed on same tag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Folded Lens is found at most 2 times out of 36, while Multiple Lenses is found 289 of 289.</a:t>
            </a:r>
          </a:p>
          <a:p>
            <a:pPr>
              <a:lnSpc>
                <a:spcPct val="100000"/>
              </a:lnSpc>
            </a:pPr>
            <a:r>
              <a:rPr lang="en-US" dirty="0"/>
              <a:t>The reason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Every Folded Lens image in our data also carries Multiple Lenses, so the model learns 'Multiple Lenses implies everything' and never learns what a folded lens looks like.</a:t>
            </a:r>
          </a:p>
          <a:p>
            <a:pPr>
              <a:lnSpc>
                <a:spcPct val="100000"/>
              </a:lnSpc>
            </a:pPr>
            <a:r>
              <a:rPr lang="en-US" dirty="0"/>
              <a:t>Adding capacity made it worse, not better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bigger model is simply more confident in the wrong answer.</a:t>
            </a:r>
          </a:p>
          <a:p>
            <a:pPr>
              <a:lnSpc>
                <a:spcPct val="100000"/>
              </a:lnSpc>
            </a:pPr>
            <a:r>
              <a:rPr lang="en-US" dirty="0"/>
              <a:t>Conclusion: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is not a model gap. We need more diverse Folded Lens examples to break the pattern.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88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F368-4841-3E8E-96FF-DB5B83073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9AD51-A8A8-409B-6FCD-4D291DFC4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accent2"/>
                </a:solidFill>
              </a:rPr>
              <a:t>Data</a:t>
            </a:r>
          </a:p>
          <a:p>
            <a:pPr>
              <a:lnSpc>
                <a:spcPct val="100000"/>
              </a:lnSpc>
            </a:pPr>
            <a:r>
              <a:rPr lang="en-US" dirty="0"/>
              <a:t>Collect more Folded Lens images, ideally some that are not also Multiple Lenses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The one change that lets the model learn the difference.</a:t>
            </a:r>
            <a:br>
              <a:rPr lang="en-US" dirty="0"/>
            </a:br>
            <a:endParaRPr lang="en-US" sz="3200" dirty="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accent2"/>
                </a:solidFill>
              </a:rPr>
              <a:t>Modelling</a:t>
            </a:r>
          </a:p>
          <a:p>
            <a:pPr>
              <a:lnSpc>
                <a:spcPct val="100000"/>
              </a:lnSpc>
            </a:pPr>
            <a:r>
              <a:rPr lang="en-US" dirty="0"/>
              <a:t>Keep testing other architectures: the best variant leads on overall F1, and we will confirm it with repeat runs.</a:t>
            </a:r>
          </a:p>
          <a:p>
            <a:pPr>
              <a:lnSpc>
                <a:spcPct val="100000"/>
              </a:lnSpc>
            </a:pPr>
            <a:r>
              <a:rPr lang="en-US" dirty="0"/>
              <a:t>Weigh the tags differently during training so rare tags like Folded Lens count more. </a:t>
            </a:r>
          </a:p>
          <a:p>
            <a:pPr>
              <a:lnSpc>
                <a:spcPct val="100000"/>
              </a:lnSpc>
            </a:pPr>
            <a:r>
              <a:rPr lang="en-US" dirty="0"/>
              <a:t>Tune the decision level for Folded Lens from saved scores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33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13C9-0F4E-6D34-4804-B1841544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508" y="2081343"/>
            <a:ext cx="5112443" cy="2817903"/>
          </a:xfrm>
        </p:spPr>
        <p:txBody>
          <a:bodyPr>
            <a:noAutofit/>
          </a:bodyPr>
          <a:lstStyle/>
          <a:p>
            <a:pPr algn="ctr"/>
            <a:r>
              <a:rPr lang="en-GB" sz="9600">
                <a:cs typeface="Arial"/>
              </a:rPr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1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Intuceo (non-official)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4D3"/>
      </a:accent1>
      <a:accent2>
        <a:srgbClr val="FF8900"/>
      </a:accent2>
      <a:accent3>
        <a:srgbClr val="37957C"/>
      </a:accent3>
      <a:accent4>
        <a:srgbClr val="ABA9AE"/>
      </a:accent4>
      <a:accent5>
        <a:srgbClr val="4E509F"/>
      </a:accent5>
      <a:accent6>
        <a:srgbClr val="0E4B7E"/>
      </a:accent6>
      <a:hlink>
        <a:srgbClr val="0074D3"/>
      </a:hlink>
      <a:folHlink>
        <a:srgbClr val="0074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77371157414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D3E0DE-7531-401B-BF67-6E3DB6AF9FE9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d3ef9a38-429a-4fc7-a349-da457582e79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E34DB518AC5C44944BF625C0F429D5" ma:contentTypeVersion="13" ma:contentTypeDescription="Create a new document." ma:contentTypeScope="" ma:versionID="8f93a0272f9420aba38537190fa33145">
  <xsd:schema xmlns:xsd="http://www.w3.org/2001/XMLSchema" xmlns:xs="http://www.w3.org/2001/XMLSchema" xmlns:p="http://schemas.microsoft.com/office/2006/metadata/properties" xmlns:ns2="7bd10c3b-c9b6-446f-b2fc-1cbb347637c6" xmlns:ns3="6eaa0000-d1e9-4f4d-b025-617f89ad38b0" targetNamespace="http://schemas.microsoft.com/office/2006/metadata/properties" ma:root="true" ma:fieldsID="f0c2aa9679b437ebaefbabc871863d7e" ns2:_="" ns3:_="">
    <xsd:import namespace="7bd10c3b-c9b6-446f-b2fc-1cbb347637c6"/>
    <xsd:import namespace="6eaa0000-d1e9-4f4d-b025-617f89ad38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10c3b-c9b6-446f-b2fc-1cbb34763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273b707-320a-4ad8-a1e3-f9b2b892d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a0000-d1e9-4f4d-b025-617f89ad38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717f56c-00a7-4a3d-86e0-2aa2175fc5ab}" ma:internalName="TaxCatchAll" ma:showField="CatchAllData" ma:web="6eaa0000-d1e9-4f4d-b025-617f89ad38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d10c3b-c9b6-446f-b2fc-1cbb347637c6">
      <Terms xmlns="http://schemas.microsoft.com/office/infopath/2007/PartnerControls"/>
    </lcf76f155ced4ddcb4097134ff3c332f>
    <TaxCatchAll xmlns="6eaa0000-d1e9-4f4d-b025-617f89ad38b0" xsi:nil="true"/>
  </documentManagement>
</p:properties>
</file>

<file path=customXml/itemProps1.xml><?xml version="1.0" encoding="utf-8"?>
<ds:datastoreItem xmlns:ds="http://schemas.openxmlformats.org/officeDocument/2006/customXml" ds:itemID="{04A9C9AE-EEC3-44B3-BB34-6E3BED588A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88CFE-8A09-42B8-B93F-38B96B423EA3}">
  <ds:schemaRefs>
    <ds:schemaRef ds:uri="6eaa0000-d1e9-4f4d-b025-617f89ad38b0"/>
    <ds:schemaRef ds:uri="7bd10c3b-c9b6-446f-b2fc-1cbb347637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3B9A3D-54DA-4328-BAA5-39D733CC6023}">
  <ds:schemaRefs>
    <ds:schemaRef ds:uri="6eaa0000-d1e9-4f4d-b025-617f89ad38b0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7bd10c3b-c9b6-446f-b2fc-1cbb347637c6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1413</Words>
  <Application>Microsoft Office PowerPoint</Application>
  <PresentationFormat>Widescreen</PresentationFormat>
  <Paragraphs>341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-apple-system</vt:lpstr>
      <vt:lpstr>Arial</vt:lpstr>
      <vt:lpstr>Arimo</vt:lpstr>
      <vt:lpstr>Arimo Bold</vt:lpstr>
      <vt:lpstr>Calibri</vt:lpstr>
      <vt:lpstr>Calibri Light</vt:lpstr>
      <vt:lpstr>Custom Design</vt:lpstr>
      <vt:lpstr>Office Theme [1777371157414]</vt:lpstr>
      <vt:lpstr>PowerPoint Presentation</vt:lpstr>
      <vt:lpstr>PowerPoint Presentation</vt:lpstr>
      <vt:lpstr>Agenda – Augmentation, Multi Label Model</vt:lpstr>
      <vt:lpstr>Photometric &amp; Geometric Used for Augmentation:</vt:lpstr>
      <vt:lpstr>PowerPoint Presentation</vt:lpstr>
      <vt:lpstr>RESULTS</vt:lpstr>
      <vt:lpstr>PowerPoint Presentation</vt:lpstr>
      <vt:lpstr>PowerPoint Presentation</vt:lpstr>
      <vt:lpstr>Average recall changes improves for most defect types</vt:lpstr>
      <vt:lpstr>Multi Label Model</vt:lpstr>
      <vt:lpstr>Why we built a multi-label model ?</vt:lpstr>
      <vt:lpstr>Data </vt:lpstr>
      <vt:lpstr>How we read the results</vt:lpstr>
      <vt:lpstr>How the model works</vt:lpstr>
      <vt:lpstr>Results: Baseline vs MultiScale, and the Folded Lens issue</vt:lpstr>
      <vt:lpstr>Contd..</vt:lpstr>
      <vt:lpstr>What's next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kiran kala</dc:creator>
  <cp:lastModifiedBy>Pranay Chowdary Pudota</cp:lastModifiedBy>
  <cp:revision>149</cp:revision>
  <cp:lastPrinted>2021-04-30T15:27:08Z</cp:lastPrinted>
  <dcterms:created xsi:type="dcterms:W3CDTF">2020-02-13T14:44:55Z</dcterms:created>
  <dcterms:modified xsi:type="dcterms:W3CDTF">2026-10-05T12:04:18Z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0x01010021E34DB518AC5C44944BF625C0F429D5</vt:lpwstr>
  </property>
  <property fmtid="{D5CDD505-2E9C-101B-9397-08002B2CF9AE}" pid="3" name="MediaServiceImageTags">
    <vt:lpwstr/>
  </property>
</Properties>
</file>