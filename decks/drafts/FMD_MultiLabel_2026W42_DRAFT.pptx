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7" d="100"/>
          <a:sy n="107" d="100"/>
        </p:scale>
        <p:origin x="71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E7AE83-B7E8-4849-A56F-34B8BC3E3301}" type="datetimeFigureOut">
              <a:rPr lang="en-US" smtClean="0"/>
              <a:t>10/6/2026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B148BE-220A-4C01-A56D-0ECF17CCA6A2}" type="slidenum">
              <a:rPr lang="en-US" smtClean="0"/>
              <a:t>‹#›</a:t>
            </a:fld>
            <a:endParaRPr lang="en-US"/>
          </a:p>
        </p:txBody>
      </p:sp>
    </p:spTree>
    <p:extLst>
      <p:ext uri="{BB962C8B-B14F-4D97-AF65-F5344CB8AC3E}">
        <p14:creationId xmlns:p14="http://schemas.microsoft.com/office/powerpoint/2010/main" val="242546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Internal: this is the slide the review flagged as reading like generated text. Rewritten to be shorter and more direct. If it still reads stiff, we cut the last bullet and say it out loud instead.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If asked why precision dropped: the same push that makes the model speak up on real folds also makes it speak up when unsure. A higher cut-off buys precision back; that experiment runs on saved scores, no retraining, planned after we cut a third validation split.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macro F1 jump of +0.084 is more than twice the repeat-run band of 0.037, so the weighted result is a real effect, not run-to-run luck.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Internal only, from the client meeting (verbal, not yet confirmed by email): back office owns the full multi-class multi-label analysis per the URS; the edge device only needs binary pass or fail. Client is also attempting to consolidate the bubble class. The 5,000 images figure is verbal; treat as unofficial until the email arrives.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Multi-label lens inspection: where we are, and the Folded Lens fix</a:t>
            </a:r>
          </a:p>
        </p:txBody>
      </p:sp>
      <p:sp>
        <p:nvSpPr>
          <p:cNvPr id="3" name="Content Placeholder 2"/>
          <p:cNvSpPr>
            <a:spLocks noGrp="1"/>
          </p:cNvSpPr>
          <p:nvPr>
            <p:ph idx="1"/>
          </p:nvPr>
        </p:nvSpPr>
        <p:spPr/>
        <p:txBody>
          <a:bodyPr/>
          <a:lstStyle/>
          <a:p>
            <a:r>
              <a:t>178 of our 3,377 lens images carry two conditions at once, and every one of them is Folded Lens together with Multiple Lenses.</a:t>
            </a:r>
          </a:p>
          <a:p>
            <a:r>
              <a:t>A standard classifier picks one label per picture, so on those 178 it drops a real answer.</a:t>
            </a:r>
          </a:p>
          <a:p>
            <a:r>
              <a:t>Our model answers all five tags independently, so one picture can get several yes answers.</a:t>
            </a:r>
          </a:p>
          <a:p>
            <a:r>
              <a:t>On 677 test pictures the first model answered 636 fully correct: 93.9%.</a:t>
            </a:r>
          </a:p>
          <a:p>
            <a:r>
              <a:t>One tag stayed weak, Folded Lens. This deck shows why, and the fix we ran this week.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to read the numbers in this deck</a:t>
            </a:r>
          </a:p>
        </p:txBody>
      </p:sp>
      <p:sp>
        <p:nvSpPr>
          <p:cNvPr id="3" name="Content Placeholder 2"/>
          <p:cNvSpPr>
            <a:spLocks noGrp="1"/>
          </p:cNvSpPr>
          <p:nvPr>
            <p:ph idx="1"/>
          </p:nvPr>
        </p:nvSpPr>
        <p:spPr/>
        <p:txBody>
          <a:bodyPr/>
          <a:lstStyle/>
          <a:p>
            <a:r>
              <a:t>Accuracy is the wrong yardstick here. A model that says 'no' to every tag already scores about 79% and catches nothing.</a:t>
            </a:r>
          </a:p>
          <a:p>
            <a:r>
              <a:t>So we score each tag on its own. The headline number is AUPRC: how well the model ranks the true cases above the rest for that tag. 1.0 is perfect, 0.5 is no better than chance, 0 is inverted.</a:t>
            </a:r>
          </a:p>
          <a:p>
            <a:r>
              <a:t>We also count real cases caught at the 0.5 cut, tag by tag. That is the number a production line would feel: '17 of the 36 folded lenses were flagged'.</a:t>
            </a:r>
          </a:p>
          <a:p>
            <a:r>
              <a:t>Both numbers appear on every result slide, so no weak tag can hide inside an average.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57200" y="2377440"/>
            <a:ext cx="2286000" cy="1371600"/>
          </a:xfrm>
          <a:prstGeom prst="roundRect">
            <a:avLst/>
          </a:prstGeom>
          <a:solidFill>
            <a:srgbClr val="2E5A88"/>
          </a:solidFill>
        </p:spPr>
        <p:style>
          <a:lnRef idx="1">
            <a:schemeClr val="accent1"/>
          </a:lnRef>
          <a:fillRef idx="3">
            <a:schemeClr val="accent1"/>
          </a:fillRef>
          <a:effectRef idx="2">
            <a:schemeClr val="accent1"/>
          </a:effectRef>
          <a:fontRef idx="minor">
            <a:schemeClr val="lt1"/>
          </a:fontRef>
        </p:style>
        <p:txBody>
          <a:bodyPr rtlCol="0" anchor="ctr"/>
          <a:lstStyle/>
          <a:p>
            <a:r>
              <a:t>1  Picture</a:t>
            </a:r>
          </a:p>
          <a:p>
            <a:r>
              <a:t>one image from the line</a:t>
            </a:r>
          </a:p>
        </p:txBody>
      </p:sp>
      <p:sp>
        <p:nvSpPr>
          <p:cNvPr id="3" name="Right Arrow 2"/>
          <p:cNvSpPr/>
          <p:nvPr/>
        </p:nvSpPr>
        <p:spPr>
          <a:xfrm>
            <a:off x="2880360" y="2788920"/>
            <a:ext cx="822960" cy="548640"/>
          </a:xfrm>
          <a:prstGeom prst="rightArrow">
            <a:avLst/>
          </a:prstGeom>
          <a:solidFill>
            <a:srgbClr val="8FA8C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840480" y="2377440"/>
            <a:ext cx="2286000" cy="1371600"/>
          </a:xfrm>
          <a:prstGeom prst="roundRect">
            <a:avLst/>
          </a:prstGeom>
          <a:solidFill>
            <a:srgbClr val="2E5A88"/>
          </a:solidFill>
        </p:spPr>
        <p:style>
          <a:lnRef idx="1">
            <a:schemeClr val="accent1"/>
          </a:lnRef>
          <a:fillRef idx="3">
            <a:schemeClr val="accent1"/>
          </a:fillRef>
          <a:effectRef idx="2">
            <a:schemeClr val="accent1"/>
          </a:effectRef>
          <a:fontRef idx="minor">
            <a:schemeClr val="lt1"/>
          </a:fontRef>
        </p:style>
        <p:txBody>
          <a:bodyPr rtlCol="0" anchor="ctr"/>
          <a:lstStyle/>
          <a:p>
            <a:r>
              <a:t>2  ResNet 50</a:t>
            </a:r>
          </a:p>
          <a:p>
            <a:r>
              <a:t>a pre-trained network that reads the picture</a:t>
            </a:r>
          </a:p>
        </p:txBody>
      </p:sp>
      <p:sp>
        <p:nvSpPr>
          <p:cNvPr id="5" name="Right Arrow 4"/>
          <p:cNvSpPr/>
          <p:nvPr/>
        </p:nvSpPr>
        <p:spPr>
          <a:xfrm>
            <a:off x="6263640" y="2788920"/>
            <a:ext cx="822960" cy="548640"/>
          </a:xfrm>
          <a:prstGeom prst="rightArrow">
            <a:avLst/>
          </a:prstGeom>
          <a:solidFill>
            <a:srgbClr val="8FA8C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223760" y="2377440"/>
            <a:ext cx="2286000" cy="1371600"/>
          </a:xfrm>
          <a:prstGeom prst="roundRect">
            <a:avLst/>
          </a:prstGeom>
          <a:solidFill>
            <a:srgbClr val="2E5A88"/>
          </a:solidFill>
        </p:spPr>
        <p:style>
          <a:lnRef idx="1">
            <a:schemeClr val="accent1"/>
          </a:lnRef>
          <a:fillRef idx="3">
            <a:schemeClr val="accent1"/>
          </a:fillRef>
          <a:effectRef idx="2">
            <a:schemeClr val="accent1"/>
          </a:effectRef>
          <a:fontRef idx="minor">
            <a:schemeClr val="lt1"/>
          </a:fontRef>
        </p:style>
        <p:txBody>
          <a:bodyPr rtlCol="0" anchor="ctr"/>
          <a:lstStyle/>
          <a:p>
            <a:r>
              <a:t>3  Five scores</a:t>
            </a:r>
          </a:p>
          <a:p>
            <a:r>
              <a:t>one 0 to 1 score per tag</a:t>
            </a:r>
          </a:p>
        </p:txBody>
      </p:sp>
      <p:sp>
        <p:nvSpPr>
          <p:cNvPr id="7" name="Right Arrow 6"/>
          <p:cNvSpPr/>
          <p:nvPr/>
        </p:nvSpPr>
        <p:spPr>
          <a:xfrm>
            <a:off x="9646920" y="2788920"/>
            <a:ext cx="822960" cy="548640"/>
          </a:xfrm>
          <a:prstGeom prst="rightArrow">
            <a:avLst/>
          </a:prstGeom>
          <a:solidFill>
            <a:srgbClr val="8FA8C4"/>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607040" y="2377440"/>
            <a:ext cx="1371600" cy="1371600"/>
          </a:xfrm>
          <a:prstGeom prst="roundRect">
            <a:avLst/>
          </a:prstGeom>
          <a:solidFill>
            <a:srgbClr val="7A3B3B"/>
          </a:solidFill>
        </p:spPr>
        <p:style>
          <a:lnRef idx="1">
            <a:schemeClr val="accent1"/>
          </a:lnRef>
          <a:fillRef idx="3">
            <a:schemeClr val="accent1"/>
          </a:fillRef>
          <a:effectRef idx="2">
            <a:schemeClr val="accent1"/>
          </a:effectRef>
          <a:fontRef idx="minor">
            <a:schemeClr val="lt1"/>
          </a:fontRef>
        </p:style>
        <p:txBody>
          <a:bodyPr rtlCol="0" anchor="ctr"/>
          <a:lstStyle/>
          <a:p>
            <a:r>
              <a:t>4  Answers</a:t>
            </a:r>
          </a:p>
          <a:p>
            <a:r>
              <a:t>yes or no per tag, cut at 0.5</a:t>
            </a:r>
          </a:p>
        </p:txBody>
      </p:sp>
      <p:sp>
        <p:nvSpPr>
          <p:cNvPr id="9" name="Rectangle 8"/>
          <p:cNvSpPr/>
          <p:nvPr/>
        </p:nvSpPr>
        <p:spPr>
          <a:xfrm>
            <a:off x="457200" y="4480560"/>
            <a:ext cx="11247120" cy="1463040"/>
          </a:xfrm>
          <a:prstGeom prst="rect">
            <a:avLst/>
          </a:prstGeom>
          <a:solidFill>
            <a:srgbClr val="F2F2F2"/>
          </a:solidFill>
        </p:spPr>
        <p:style>
          <a:lnRef idx="1">
            <a:schemeClr val="accent1"/>
          </a:lnRef>
          <a:fillRef idx="3">
            <a:schemeClr val="accent1"/>
          </a:fillRef>
          <a:effectRef idx="2">
            <a:schemeClr val="accent1"/>
          </a:effectRef>
          <a:fontRef idx="minor">
            <a:schemeClr val="lt1"/>
          </a:fontRef>
        </p:style>
        <p:txBody>
          <a:bodyPr rtlCol="0" anchor="ctr"/>
          <a:lstStyle/>
          <a:p>
            <a:r>
              <a:t>Example: a picture scores Multiple Lenses 0.99 and Folded Lens 0.93, so it answers Yes to both. Missing Lens, Cavity Off Center and Missing Primary Package score under 0.5 and answer No.</a:t>
            </a:r>
          </a:p>
          <a:p>
            <a:r>
              <a:t>A picture coming out Yes to two tags at once is the whole point of this model.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0"/>
            <a:ext cx="8229600" cy="4572000"/>
          </a:xfrm>
          <a:prstGeom prst="rect">
            <a:avLst/>
          </a:prstGeom>
          <a:noFill/>
        </p:spPr>
        <p:txBody>
          <a:bodyPr wrap="none">
            <a:spAutoFit/>
          </a:bodyPr>
          <a:lstStyle/>
          <a:p>
            <a:r>
              <a:t>Re-running the plain model in a fresh session moves macro F1 by 0.037 on its own. Every architecture difference we measured sits inside that band.</a:t>
            </a:r>
          </a:p>
          <a:p>
            <a:r>
              <a:t>So the honest reading is: changing the network does not reach Folded Lens. All five designs miss it.</a:t>
            </a:r>
          </a:p>
          <a:p>
            <a:r>
              <a:t>The reason is in the data, not the model, and the next slide shows the lever that does work.</a:t>
            </a:r>
          </a:p>
        </p:txBody>
      </p:sp>
      <p:graphicFrame>
        <p:nvGraphicFramePr>
          <p:cNvPr id="3" name="Table 2"/>
          <p:cNvGraphicFramePr>
            <a:graphicFrameLocks noGrp="1"/>
          </p:cNvGraphicFramePr>
          <p:nvPr/>
        </p:nvGraphicFramePr>
        <p:xfrm>
          <a:off x="640080" y="2011680"/>
          <a:ext cx="10881360" cy="2194560"/>
        </p:xfrm>
        <a:graphic>
          <a:graphicData uri="http://schemas.openxmlformats.org/drawingml/2006/table">
            <a:tbl>
              <a:tblPr firstRow="1" bandRow="1">
                <a:tableStyleId>{5C22544A-7EE6-4342-B048-85BDC9FD1C3A}</a:tableStyleId>
              </a:tblPr>
              <a:tblGrid>
                <a:gridCol w="2720340">
                  <a:extLst>
                    <a:ext uri="{9D8B030D-6E8A-4147-A177-3AD203B41FA5}">
                      <a16:colId xmlns:a16="http://schemas.microsoft.com/office/drawing/2014/main" val="20000"/>
                    </a:ext>
                  </a:extLst>
                </a:gridCol>
                <a:gridCol w="2720340">
                  <a:extLst>
                    <a:ext uri="{9D8B030D-6E8A-4147-A177-3AD203B41FA5}">
                      <a16:colId xmlns:a16="http://schemas.microsoft.com/office/drawing/2014/main" val="20001"/>
                    </a:ext>
                  </a:extLst>
                </a:gridCol>
                <a:gridCol w="2720340">
                  <a:extLst>
                    <a:ext uri="{9D8B030D-6E8A-4147-A177-3AD203B41FA5}">
                      <a16:colId xmlns:a16="http://schemas.microsoft.com/office/drawing/2014/main" val="20002"/>
                    </a:ext>
                  </a:extLst>
                </a:gridCol>
                <a:gridCol w="2720340">
                  <a:extLst>
                    <a:ext uri="{9D8B030D-6E8A-4147-A177-3AD203B41FA5}">
                      <a16:colId xmlns:a16="http://schemas.microsoft.com/office/drawing/2014/main" val="20003"/>
                    </a:ext>
                  </a:extLst>
                </a:gridCol>
              </a:tblGrid>
              <a:tr h="457200">
                <a:tc>
                  <a:txBody>
                    <a:bodyPr/>
                    <a:lstStyle/>
                    <a:p>
                      <a:r>
                        <a:t>Model</a:t>
                      </a:r>
                    </a:p>
                  </a:txBody>
                  <a:tcPr/>
                </a:tc>
                <a:tc>
                  <a:txBody>
                    <a:bodyPr/>
                    <a:lstStyle/>
                    <a:p>
                      <a:r>
                        <a:t>Overall score (AUPRC)</a:t>
                      </a:r>
                    </a:p>
                  </a:txBody>
                  <a:tcPr/>
                </a:tc>
                <a:tc>
                  <a:txBody>
                    <a:bodyPr/>
                    <a:lstStyle/>
                    <a:p>
                      <a:r>
                        <a:t>Balance across tags (macro F1)</a:t>
                      </a:r>
                    </a:p>
                  </a:txBody>
                  <a:tcPr/>
                </a:tc>
                <a:tc>
                  <a:txBody>
                    <a:bodyPr/>
                    <a:lstStyle/>
                    <a:p>
                      <a:r>
                        <a:t>Folded Lens found</a:t>
                      </a:r>
                    </a:p>
                  </a:txBody>
                  <a:tcPr/>
                </a:tc>
                <a:extLst>
                  <a:ext uri="{0D108BD9-81ED-4DB2-BD59-A6C34878D82A}">
                    <a16:rowId xmlns:a16="http://schemas.microsoft.com/office/drawing/2014/main" val="10000"/>
                  </a:ext>
                </a:extLst>
              </a:tr>
              <a:tr h="457200">
                <a:tc>
                  <a:txBody>
                    <a:bodyPr/>
                    <a:lstStyle/>
                    <a:p>
                      <a:r>
                        <a:t>ResNet 50 (plain)</a:t>
                      </a:r>
                    </a:p>
                  </a:txBody>
                  <a:tcPr/>
                </a:tc>
                <a:tc>
                  <a:txBody>
                    <a:bodyPr/>
                    <a:lstStyle/>
                    <a:p>
                      <a:r>
                        <a:t>0.905</a:t>
                      </a:r>
                    </a:p>
                  </a:txBody>
                  <a:tcPr/>
                </a:tc>
                <a:tc>
                  <a:txBody>
                    <a:bodyPr/>
                    <a:lstStyle/>
                    <a:p>
                      <a:r>
                        <a:t>0.808</a:t>
                      </a:r>
                    </a:p>
                  </a:txBody>
                  <a:tcPr/>
                </a:tc>
                <a:tc>
                  <a:txBody>
                    <a:bodyPr/>
                    <a:lstStyle/>
                    <a:p>
                      <a:r>
                        <a:t>2 of 36</a:t>
                      </a:r>
                    </a:p>
                  </a:txBody>
                  <a:tcPr/>
                </a:tc>
                <a:extLst>
                  <a:ext uri="{0D108BD9-81ED-4DB2-BD59-A6C34878D82A}">
                    <a16:rowId xmlns:a16="http://schemas.microsoft.com/office/drawing/2014/main" val="10001"/>
                  </a:ext>
                </a:extLst>
              </a:tr>
              <a:tr h="457200">
                <a:tc>
                  <a:txBody>
                    <a:bodyPr/>
                    <a:lstStyle/>
                    <a:p>
                      <a:r>
                        <a:t>MultiScale</a:t>
                      </a:r>
                    </a:p>
                  </a:txBody>
                  <a:tcPr/>
                </a:tc>
                <a:tc>
                  <a:txBody>
                    <a:bodyPr/>
                    <a:lstStyle/>
                    <a:p>
                      <a:r>
                        <a:t>0.862</a:t>
                      </a:r>
                    </a:p>
                  </a:txBody>
                  <a:tcPr/>
                </a:tc>
                <a:tc>
                  <a:txBody>
                    <a:bodyPr/>
                    <a:lstStyle/>
                    <a:p>
                      <a:r>
                        <a:t>0.774</a:t>
                      </a:r>
                    </a:p>
                  </a:txBody>
                  <a:tcPr/>
                </a:tc>
                <a:tc>
                  <a:txBody>
                    <a:bodyPr/>
                    <a:lstStyle/>
                    <a:p>
                      <a:r>
                        <a:t>0 of 36</a:t>
                      </a:r>
                    </a:p>
                  </a:txBody>
                  <a:tcPr/>
                </a:tc>
                <a:extLst>
                  <a:ext uri="{0D108BD9-81ED-4DB2-BD59-A6C34878D82A}">
                    <a16:rowId xmlns:a16="http://schemas.microsoft.com/office/drawing/2014/main" val="10002"/>
                  </a:ext>
                </a:extLst>
              </a:tr>
              <a:tr h="457200">
                <a:tc>
                  <a:txBody>
                    <a:bodyPr/>
                    <a:lstStyle/>
                    <a:p>
                      <a:r>
                        <a:t>Three further ResNet 50 variants</a:t>
                      </a:r>
                    </a:p>
                  </a:txBody>
                  <a:tcPr/>
                </a:tc>
                <a:tc>
                  <a:txBody>
                    <a:bodyPr/>
                    <a:lstStyle/>
                    <a:p>
                      <a:r>
                        <a:t>0.851 - 0.877</a:t>
                      </a:r>
                    </a:p>
                  </a:txBody>
                  <a:tcPr/>
                </a:tc>
                <a:tc>
                  <a:txBody>
                    <a:bodyPr/>
                    <a:lstStyle/>
                    <a:p>
                      <a:r>
                        <a:t>within noise of the plain model</a:t>
                      </a:r>
                    </a:p>
                  </a:txBody>
                  <a:tcPr/>
                </a:tc>
                <a:tc>
                  <a:txBody>
                    <a:bodyPr/>
                    <a:lstStyle/>
                    <a:p>
                      <a:r>
                        <a:t>0 of 36</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0"/>
            <a:ext cx="8229600" cy="4572000"/>
          </a:xfrm>
          <a:prstGeom prst="rect">
            <a:avLst/>
          </a:prstGeom>
          <a:noFill/>
        </p:spPr>
        <p:txBody>
          <a:bodyPr wrap="none">
            <a:spAutoFit/>
          </a:bodyPr>
          <a:lstStyle/>
          <a:p>
            <a:r>
              <a:t>During training, each missed Folded Lens picture now counts about 18 times as much as before. The weights come straight from the data: rare tags get high weights, common tags get weights near 1.</a:t>
            </a:r>
          </a:p>
          <a:p>
            <a:r>
              <a:t>Nothing else moved: same pictures, same split, same network, 10 minutes on our GPU. No extra cost at inference.</a:t>
            </a:r>
          </a:p>
          <a:p>
            <a:r>
              <a:t>Straight talk on the trade: recall went from 6% to 47%, and precision paid for it (14 pictures got flagged as Folded Lens that only carry Multiple Lenses). Every other tag held: Multiple Lenses and Missing Primary Package stayed perfect, Missing Lens recall went up.</a:t>
            </a:r>
          </a:p>
          <a:p>
            <a:r>
              <a:t>This is a working bandage, not the cure. The model still has not learned what a fold looks like; it has just been told that missing one is expensive. The cure is more Folded Lens examples, ideally some that come without Multiple Lenses.</a:t>
            </a:r>
          </a:p>
        </p:txBody>
      </p:sp>
      <p:graphicFrame>
        <p:nvGraphicFramePr>
          <p:cNvPr id="3" name="Table 2"/>
          <p:cNvGraphicFramePr>
            <a:graphicFrameLocks noGrp="1"/>
          </p:cNvGraphicFramePr>
          <p:nvPr/>
        </p:nvGraphicFramePr>
        <p:xfrm>
          <a:off x="640080" y="2011680"/>
          <a:ext cx="10881360" cy="274320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304800">
                <a:tc>
                  <a:txBody>
                    <a:bodyPr/>
                    <a:lstStyle/>
                    <a:p>
                      <a:r>
                        <a:t>Measure</a:t>
                      </a:r>
                    </a:p>
                  </a:txBody>
                  <a:tcPr/>
                </a:tc>
                <a:tc>
                  <a:txBody>
                    <a:bodyPr/>
                    <a:lstStyle/>
                    <a:p>
                      <a:r>
                        <a:t>Before</a:t>
                      </a:r>
                    </a:p>
                  </a:txBody>
                  <a:tcPr/>
                </a:tc>
                <a:tc>
                  <a:txBody>
                    <a:bodyPr/>
                    <a:lstStyle/>
                    <a:p>
                      <a:r>
                        <a:t>With class weights</a:t>
                      </a:r>
                    </a:p>
                  </a:txBody>
                  <a:tcPr/>
                </a:tc>
                <a:extLst>
                  <a:ext uri="{0D108BD9-81ED-4DB2-BD59-A6C34878D82A}">
                    <a16:rowId xmlns:a16="http://schemas.microsoft.com/office/drawing/2014/main" val="10000"/>
                  </a:ext>
                </a:extLst>
              </a:tr>
              <a:tr h="304800">
                <a:tc>
                  <a:txBody>
                    <a:bodyPr/>
                    <a:lstStyle/>
                    <a:p>
                      <a:r>
                        <a:t>Folded Lens caught (of 36 test pictures)</a:t>
                      </a:r>
                    </a:p>
                  </a:txBody>
                  <a:tcPr/>
                </a:tc>
                <a:tc>
                  <a:txBody>
                    <a:bodyPr/>
                    <a:lstStyle/>
                    <a:p>
                      <a:r>
                        <a:t>2 of 36</a:t>
                      </a:r>
                    </a:p>
                  </a:txBody>
                  <a:tcPr/>
                </a:tc>
                <a:tc>
                  <a:txBody>
                    <a:bodyPr/>
                    <a:lstStyle/>
                    <a:p>
                      <a:r>
                        <a:t>17 of 36</a:t>
                      </a:r>
                    </a:p>
                  </a:txBody>
                  <a:tcPr/>
                </a:tc>
                <a:extLst>
                  <a:ext uri="{0D108BD9-81ED-4DB2-BD59-A6C34878D82A}">
                    <a16:rowId xmlns:a16="http://schemas.microsoft.com/office/drawing/2014/main" val="10001"/>
                  </a:ext>
                </a:extLst>
              </a:tr>
              <a:tr h="304800">
                <a:tc>
                  <a:txBody>
                    <a:bodyPr/>
                    <a:lstStyle/>
                    <a:p>
                      <a:r>
                        <a:t>Folded Lens precision (flagged pictures that are right)</a:t>
                      </a:r>
                    </a:p>
                  </a:txBody>
                  <a:tcPr/>
                </a:tc>
                <a:tc>
                  <a:txBody>
                    <a:bodyPr/>
                    <a:lstStyle/>
                    <a:p>
                      <a:r>
                        <a:t>0.67</a:t>
                      </a:r>
                    </a:p>
                  </a:txBody>
                  <a:tcPr/>
                </a:tc>
                <a:tc>
                  <a:txBody>
                    <a:bodyPr/>
                    <a:lstStyle/>
                    <a:p>
                      <a:r>
                        <a:t>0.55</a:t>
                      </a:r>
                    </a:p>
                  </a:txBody>
                  <a:tcPr/>
                </a:tc>
                <a:extLst>
                  <a:ext uri="{0D108BD9-81ED-4DB2-BD59-A6C34878D82A}">
                    <a16:rowId xmlns:a16="http://schemas.microsoft.com/office/drawing/2014/main" val="10002"/>
                  </a:ext>
                </a:extLst>
              </a:tr>
              <a:tr h="304800">
                <a:tc>
                  <a:txBody>
                    <a:bodyPr/>
                    <a:lstStyle/>
                    <a:p>
                      <a:r>
                        <a:t>Folded Lens F1 (balance of the two)</a:t>
                      </a:r>
                    </a:p>
                  </a:txBody>
                  <a:tcPr/>
                </a:tc>
                <a:tc>
                  <a:txBody>
                    <a:bodyPr/>
                    <a:lstStyle/>
                    <a:p>
                      <a:r>
                        <a:t>0.10</a:t>
                      </a:r>
                    </a:p>
                  </a:txBody>
                  <a:tcPr/>
                </a:tc>
                <a:tc>
                  <a:txBody>
                    <a:bodyPr/>
                    <a:lstStyle/>
                    <a:p>
                      <a:r>
                        <a:t>0.51</a:t>
                      </a:r>
                    </a:p>
                  </a:txBody>
                  <a:tcPr/>
                </a:tc>
                <a:extLst>
                  <a:ext uri="{0D108BD9-81ED-4DB2-BD59-A6C34878D82A}">
                    <a16:rowId xmlns:a16="http://schemas.microsoft.com/office/drawing/2014/main" val="10003"/>
                  </a:ext>
                </a:extLst>
              </a:tr>
              <a:tr h="304800">
                <a:tc>
                  <a:txBody>
                    <a:bodyPr/>
                    <a:lstStyle/>
                    <a:p>
                      <a:r>
                        <a:t>Folded Lens AUPRC</a:t>
                      </a:r>
                    </a:p>
                  </a:txBody>
                  <a:tcPr/>
                </a:tc>
                <a:tc>
                  <a:txBody>
                    <a:bodyPr/>
                    <a:lstStyle/>
                    <a:p>
                      <a:r>
                        <a:t>0.52</a:t>
                      </a:r>
                    </a:p>
                  </a:txBody>
                  <a:tcPr/>
                </a:tc>
                <a:tc>
                  <a:txBody>
                    <a:bodyPr/>
                    <a:lstStyle/>
                    <a:p>
                      <a:r>
                        <a:t>0.62</a:t>
                      </a:r>
                    </a:p>
                  </a:txBody>
                  <a:tcPr/>
                </a:tc>
                <a:extLst>
                  <a:ext uri="{0D108BD9-81ED-4DB2-BD59-A6C34878D82A}">
                    <a16:rowId xmlns:a16="http://schemas.microsoft.com/office/drawing/2014/main" val="10004"/>
                  </a:ext>
                </a:extLst>
              </a:tr>
              <a:tr h="304800">
                <a:tc>
                  <a:txBody>
                    <a:bodyPr/>
                    <a:lstStyle/>
                    <a:p>
                      <a:r>
                        <a:t>Other four tags</a:t>
                      </a:r>
                    </a:p>
                  </a:txBody>
                  <a:tcPr/>
                </a:tc>
                <a:tc>
                  <a:txBody>
                    <a:bodyPr/>
                    <a:lstStyle/>
                    <a:p>
                      <a:r>
                        <a:t>at ceiling</a:t>
                      </a:r>
                    </a:p>
                  </a:txBody>
                  <a:tcPr/>
                </a:tc>
                <a:tc>
                  <a:txBody>
                    <a:bodyPr/>
                    <a:lstStyle/>
                    <a:p>
                      <a:r>
                        <a:t>unchanged or better</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40080" y="2011680"/>
          <a:ext cx="10881360" cy="2743200"/>
        </p:xfrm>
        <a:graphic>
          <a:graphicData uri="http://schemas.openxmlformats.org/drawingml/2006/table">
            <a:tbl>
              <a:tblPr firstRow="1" bandRow="1">
                <a:tableStyleId>{5C22544A-7EE6-4342-B048-85BDC9FD1C3A}</a:tableStyleId>
              </a:tblPr>
              <a:tblGrid>
                <a:gridCol w="1813560">
                  <a:extLst>
                    <a:ext uri="{9D8B030D-6E8A-4147-A177-3AD203B41FA5}">
                      <a16:colId xmlns:a16="http://schemas.microsoft.com/office/drawing/2014/main" val="20000"/>
                    </a:ext>
                  </a:extLst>
                </a:gridCol>
                <a:gridCol w="1813560">
                  <a:extLst>
                    <a:ext uri="{9D8B030D-6E8A-4147-A177-3AD203B41FA5}">
                      <a16:colId xmlns:a16="http://schemas.microsoft.com/office/drawing/2014/main" val="20001"/>
                    </a:ext>
                  </a:extLst>
                </a:gridCol>
                <a:gridCol w="1813560">
                  <a:extLst>
                    <a:ext uri="{9D8B030D-6E8A-4147-A177-3AD203B41FA5}">
                      <a16:colId xmlns:a16="http://schemas.microsoft.com/office/drawing/2014/main" val="20002"/>
                    </a:ext>
                  </a:extLst>
                </a:gridCol>
                <a:gridCol w="1813560">
                  <a:extLst>
                    <a:ext uri="{9D8B030D-6E8A-4147-A177-3AD203B41FA5}">
                      <a16:colId xmlns:a16="http://schemas.microsoft.com/office/drawing/2014/main" val="20003"/>
                    </a:ext>
                  </a:extLst>
                </a:gridCol>
                <a:gridCol w="1813560">
                  <a:extLst>
                    <a:ext uri="{9D8B030D-6E8A-4147-A177-3AD203B41FA5}">
                      <a16:colId xmlns:a16="http://schemas.microsoft.com/office/drawing/2014/main" val="20004"/>
                    </a:ext>
                  </a:extLst>
                </a:gridCol>
                <a:gridCol w="1813560">
                  <a:extLst>
                    <a:ext uri="{9D8B030D-6E8A-4147-A177-3AD203B41FA5}">
                      <a16:colId xmlns:a16="http://schemas.microsoft.com/office/drawing/2014/main" val="20005"/>
                    </a:ext>
                  </a:extLst>
                </a:gridCol>
              </a:tblGrid>
              <a:tr h="304800">
                <a:tc>
                  <a:txBody>
                    <a:bodyPr/>
                    <a:lstStyle/>
                    <a:p>
                      <a:r>
                        <a:t>Tag</a:t>
                      </a:r>
                    </a:p>
                  </a:txBody>
                  <a:tcPr/>
                </a:tc>
                <a:tc>
                  <a:txBody>
                    <a:bodyPr/>
                    <a:lstStyle/>
                    <a:p>
                      <a:r>
                        <a:t>Test pictures</a:t>
                      </a:r>
                    </a:p>
                  </a:txBody>
                  <a:tcPr/>
                </a:tc>
                <a:tc>
                  <a:txBody>
                    <a:bodyPr/>
                    <a:lstStyle/>
                    <a:p>
                      <a:r>
                        <a:t>Caught, baseline</a:t>
                      </a:r>
                    </a:p>
                  </a:txBody>
                  <a:tcPr/>
                </a:tc>
                <a:tc>
                  <a:txBody>
                    <a:bodyPr/>
                    <a:lstStyle/>
                    <a:p>
                      <a:r>
                        <a:t>Caught, weighted</a:t>
                      </a:r>
                    </a:p>
                  </a:txBody>
                  <a:tcPr/>
                </a:tc>
                <a:tc>
                  <a:txBody>
                    <a:bodyPr/>
                    <a:lstStyle/>
                    <a:p>
                      <a:r>
                        <a:t>AUPRC baseline</a:t>
                      </a:r>
                    </a:p>
                  </a:txBody>
                  <a:tcPr/>
                </a:tc>
                <a:tc>
                  <a:txBody>
                    <a:bodyPr/>
                    <a:lstStyle/>
                    <a:p>
                      <a:r>
                        <a:t>AUPRC weighted</a:t>
                      </a:r>
                    </a:p>
                  </a:txBody>
                  <a:tcPr/>
                </a:tc>
                <a:extLst>
                  <a:ext uri="{0D108BD9-81ED-4DB2-BD59-A6C34878D82A}">
                    <a16:rowId xmlns:a16="http://schemas.microsoft.com/office/drawing/2014/main" val="10000"/>
                  </a:ext>
                </a:extLst>
              </a:tr>
              <a:tr h="304800">
                <a:tc>
                  <a:txBody>
                    <a:bodyPr/>
                    <a:lstStyle/>
                    <a:p>
                      <a:r>
                        <a:t>Multiple Lenses</a:t>
                      </a:r>
                    </a:p>
                  </a:txBody>
                  <a:tcPr/>
                </a:tc>
                <a:tc>
                  <a:txBody>
                    <a:bodyPr/>
                    <a:lstStyle/>
                    <a:p>
                      <a:r>
                        <a:t>289</a:t>
                      </a:r>
                    </a:p>
                  </a:txBody>
                  <a:tcPr/>
                </a:tc>
                <a:tc>
                  <a:txBody>
                    <a:bodyPr/>
                    <a:lstStyle/>
                    <a:p>
                      <a:r>
                        <a:t>289 of 289</a:t>
                      </a:r>
                    </a:p>
                  </a:txBody>
                  <a:tcPr/>
                </a:tc>
                <a:tc>
                  <a:txBody>
                    <a:bodyPr/>
                    <a:lstStyle/>
                    <a:p>
                      <a:r>
                        <a:t>289 of 289</a:t>
                      </a:r>
                    </a:p>
                  </a:txBody>
                  <a:tcPr/>
                </a:tc>
                <a:tc>
                  <a:txBody>
                    <a:bodyPr/>
                    <a:lstStyle/>
                    <a:p>
                      <a:r>
                        <a:t>1.00</a:t>
                      </a:r>
                    </a:p>
                  </a:txBody>
                  <a:tcPr/>
                </a:tc>
                <a:tc>
                  <a:txBody>
                    <a:bodyPr/>
                    <a:lstStyle/>
                    <a:p>
                      <a:r>
                        <a:t>1.00</a:t>
                      </a:r>
                    </a:p>
                  </a:txBody>
                  <a:tcPr/>
                </a:tc>
                <a:extLst>
                  <a:ext uri="{0D108BD9-81ED-4DB2-BD59-A6C34878D82A}">
                    <a16:rowId xmlns:a16="http://schemas.microsoft.com/office/drawing/2014/main" val="10001"/>
                  </a:ext>
                </a:extLst>
              </a:tr>
              <a:tr h="304800">
                <a:tc>
                  <a:txBody>
                    <a:bodyPr/>
                    <a:lstStyle/>
                    <a:p>
                      <a:r>
                        <a:t>Missing Primary Package</a:t>
                      </a:r>
                    </a:p>
                  </a:txBody>
                  <a:tcPr/>
                </a:tc>
                <a:tc>
                  <a:txBody>
                    <a:bodyPr/>
                    <a:lstStyle/>
                    <a:p>
                      <a:r>
                        <a:t>286</a:t>
                      </a:r>
                    </a:p>
                  </a:txBody>
                  <a:tcPr/>
                </a:tc>
                <a:tc>
                  <a:txBody>
                    <a:bodyPr/>
                    <a:lstStyle/>
                    <a:p>
                      <a:r>
                        <a:t>286 of 286</a:t>
                      </a:r>
                    </a:p>
                  </a:txBody>
                  <a:tcPr/>
                </a:tc>
                <a:tc>
                  <a:txBody>
                    <a:bodyPr/>
                    <a:lstStyle/>
                    <a:p>
                      <a:r>
                        <a:t>286 of 286</a:t>
                      </a:r>
                    </a:p>
                  </a:txBody>
                  <a:tcPr/>
                </a:tc>
                <a:tc>
                  <a:txBody>
                    <a:bodyPr/>
                    <a:lstStyle/>
                    <a:p>
                      <a:r>
                        <a:t>1.00</a:t>
                      </a:r>
                    </a:p>
                  </a:txBody>
                  <a:tcPr/>
                </a:tc>
                <a:tc>
                  <a:txBody>
                    <a:bodyPr/>
                    <a:lstStyle/>
                    <a:p>
                      <a:r>
                        <a:t>1.00</a:t>
                      </a:r>
                    </a:p>
                  </a:txBody>
                  <a:tcPr/>
                </a:tc>
                <a:extLst>
                  <a:ext uri="{0D108BD9-81ED-4DB2-BD59-A6C34878D82A}">
                    <a16:rowId xmlns:a16="http://schemas.microsoft.com/office/drawing/2014/main" val="10002"/>
                  </a:ext>
                </a:extLst>
              </a:tr>
              <a:tr h="304800">
                <a:tc>
                  <a:txBody>
                    <a:bodyPr/>
                    <a:lstStyle/>
                    <a:p>
                      <a:r>
                        <a:t>Missing Lens</a:t>
                      </a:r>
                    </a:p>
                  </a:txBody>
                  <a:tcPr/>
                </a:tc>
                <a:tc>
                  <a:txBody>
                    <a:bodyPr/>
                    <a:lstStyle/>
                    <a:p>
                      <a:r>
                        <a:t>65</a:t>
                      </a:r>
                    </a:p>
                  </a:txBody>
                  <a:tcPr/>
                </a:tc>
                <a:tc>
                  <a:txBody>
                    <a:bodyPr/>
                    <a:lstStyle/>
                    <a:p>
                      <a:r>
                        <a:t>61 of 65</a:t>
                      </a:r>
                    </a:p>
                  </a:txBody>
                  <a:tcPr/>
                </a:tc>
                <a:tc>
                  <a:txBody>
                    <a:bodyPr/>
                    <a:lstStyle/>
                    <a:p>
                      <a:r>
                        <a:t>64 of 65</a:t>
                      </a:r>
                    </a:p>
                  </a:txBody>
                  <a:tcPr/>
                </a:tc>
                <a:tc>
                  <a:txBody>
                    <a:bodyPr/>
                    <a:lstStyle/>
                    <a:p>
                      <a:r>
                        <a:t>1.00</a:t>
                      </a:r>
                    </a:p>
                  </a:txBody>
                  <a:tcPr/>
                </a:tc>
                <a:tc>
                  <a:txBody>
                    <a:bodyPr/>
                    <a:lstStyle/>
                    <a:p>
                      <a:r>
                        <a:t>1.00</a:t>
                      </a:r>
                    </a:p>
                  </a:txBody>
                  <a:tcPr/>
                </a:tc>
                <a:extLst>
                  <a:ext uri="{0D108BD9-81ED-4DB2-BD59-A6C34878D82A}">
                    <a16:rowId xmlns:a16="http://schemas.microsoft.com/office/drawing/2014/main" val="10003"/>
                  </a:ext>
                </a:extLst>
              </a:tr>
              <a:tr h="304800">
                <a:tc>
                  <a:txBody>
                    <a:bodyPr/>
                    <a:lstStyle/>
                    <a:p>
                      <a:r>
                        <a:t>Cavity Off Center</a:t>
                      </a:r>
                    </a:p>
                  </a:txBody>
                  <a:tcPr/>
                </a:tc>
                <a:tc>
                  <a:txBody>
                    <a:bodyPr/>
                    <a:lstStyle/>
                    <a:p>
                      <a:r>
                        <a:t>37</a:t>
                      </a:r>
                    </a:p>
                  </a:txBody>
                  <a:tcPr/>
                </a:tc>
                <a:tc>
                  <a:txBody>
                    <a:bodyPr/>
                    <a:lstStyle/>
                    <a:p>
                      <a:r>
                        <a:t>35 of 37</a:t>
                      </a:r>
                    </a:p>
                  </a:txBody>
                  <a:tcPr/>
                </a:tc>
                <a:tc>
                  <a:txBody>
                    <a:bodyPr/>
                    <a:lstStyle/>
                    <a:p>
                      <a:r>
                        <a:t>37 of 37</a:t>
                      </a:r>
                    </a:p>
                  </a:txBody>
                  <a:tcPr/>
                </a:tc>
                <a:tc>
                  <a:txBody>
                    <a:bodyPr/>
                    <a:lstStyle/>
                    <a:p>
                      <a:r>
                        <a:t>1.00</a:t>
                      </a:r>
                    </a:p>
                  </a:txBody>
                  <a:tcPr/>
                </a:tc>
                <a:tc>
                  <a:txBody>
                    <a:bodyPr/>
                    <a:lstStyle/>
                    <a:p>
                      <a:r>
                        <a:t>1.00</a:t>
                      </a:r>
                    </a:p>
                  </a:txBody>
                  <a:tcPr/>
                </a:tc>
                <a:extLst>
                  <a:ext uri="{0D108BD9-81ED-4DB2-BD59-A6C34878D82A}">
                    <a16:rowId xmlns:a16="http://schemas.microsoft.com/office/drawing/2014/main" val="10004"/>
                  </a:ext>
                </a:extLst>
              </a:tr>
              <a:tr h="304800">
                <a:tc>
                  <a:txBody>
                    <a:bodyPr/>
                    <a:lstStyle/>
                    <a:p>
                      <a:r>
                        <a:t>Folded Lens</a:t>
                      </a:r>
                    </a:p>
                  </a:txBody>
                  <a:tcPr/>
                </a:tc>
                <a:tc>
                  <a:txBody>
                    <a:bodyPr/>
                    <a:lstStyle/>
                    <a:p>
                      <a:r>
                        <a:t>36</a:t>
                      </a:r>
                    </a:p>
                  </a:txBody>
                  <a:tcPr/>
                </a:tc>
                <a:tc>
                  <a:txBody>
                    <a:bodyPr/>
                    <a:lstStyle/>
                    <a:p>
                      <a:r>
                        <a:t>2 of 36</a:t>
                      </a:r>
                    </a:p>
                  </a:txBody>
                  <a:tcPr/>
                </a:tc>
                <a:tc>
                  <a:txBody>
                    <a:bodyPr/>
                    <a:lstStyle/>
                    <a:p>
                      <a:r>
                        <a:t>17 of 36</a:t>
                      </a:r>
                    </a:p>
                  </a:txBody>
                  <a:tcPr/>
                </a:tc>
                <a:tc>
                  <a:txBody>
                    <a:bodyPr/>
                    <a:lstStyle/>
                    <a:p>
                      <a:r>
                        <a:t>0.52</a:t>
                      </a:r>
                    </a:p>
                  </a:txBody>
                  <a:tcPr/>
                </a:tc>
                <a:tc>
                  <a:txBody>
                    <a:bodyPr/>
                    <a:lstStyle/>
                    <a:p>
                      <a:r>
                        <a:t>0.62</a:t>
                      </a:r>
                    </a:p>
                  </a:txBody>
                  <a:tcPr/>
                </a:tc>
                <a:extLst>
                  <a:ext uri="{0D108BD9-81ED-4DB2-BD59-A6C34878D82A}">
                    <a16:rowId xmlns:a16="http://schemas.microsoft.com/office/drawing/2014/main" val="10005"/>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1276211743"/>
              </p:ext>
            </p:extLst>
          </p:nvPr>
        </p:nvGraphicFramePr>
        <p:xfrm>
          <a:off x="640080" y="182880"/>
          <a:ext cx="10881360" cy="182880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914400">
                <a:tc>
                  <a:txBody>
                    <a:bodyPr/>
                    <a:lstStyle/>
                    <a:p>
                      <a:r>
                        <a:t>Whole-picture correct</a:t>
                      </a:r>
                    </a:p>
                  </a:txBody>
                  <a:tcPr/>
                </a:tc>
                <a:tc>
                  <a:txBody>
                    <a:bodyPr/>
                    <a:lstStyle/>
                    <a:p>
                      <a:r>
                        <a:t>93.9%</a:t>
                      </a:r>
                    </a:p>
                  </a:txBody>
                  <a:tcPr/>
                </a:tc>
                <a:tc>
                  <a:txBody>
                    <a:bodyPr/>
                    <a:lstStyle/>
                    <a:p>
                      <a:r>
                        <a:t>94.5%</a:t>
                      </a:r>
                    </a:p>
                  </a:txBody>
                  <a:tcPr/>
                </a:tc>
                <a:extLst>
                  <a:ext uri="{0D108BD9-81ED-4DB2-BD59-A6C34878D82A}">
                    <a16:rowId xmlns:a16="http://schemas.microsoft.com/office/drawing/2014/main" val="10000"/>
                  </a:ext>
                </a:extLst>
              </a:tr>
              <a:tr h="914400">
                <a:tc>
                  <a:txBody>
                    <a:bodyPr/>
                    <a:lstStyle/>
                    <a:p>
                      <a:r>
                        <a:rPr dirty="0"/>
                        <a:t>Balance across tags (macro F1)</a:t>
                      </a:r>
                    </a:p>
                  </a:txBody>
                  <a:tcPr/>
                </a:tc>
                <a:tc>
                  <a:txBody>
                    <a:bodyPr/>
                    <a:lstStyle/>
                    <a:p>
                      <a:r>
                        <a:t>0.808</a:t>
                      </a:r>
                    </a:p>
                  </a:txBody>
                  <a:tcPr/>
                </a:tc>
                <a:tc>
                  <a:txBody>
                    <a:bodyPr/>
                    <a:lstStyle/>
                    <a:p>
                      <a:r>
                        <a:rPr dirty="0"/>
                        <a:t>0.892</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1828800"/>
            <a:ext cx="5303520" cy="3931920"/>
          </a:xfrm>
          <a:prstGeom prst="rect">
            <a:avLst/>
          </a:prstGeom>
          <a:solidFill>
            <a:srgbClr val="F5E9E9"/>
          </a:solidFill>
        </p:spPr>
        <p:style>
          <a:lnRef idx="1">
            <a:schemeClr val="accent1"/>
          </a:lnRef>
          <a:fillRef idx="3">
            <a:schemeClr val="accent1"/>
          </a:fillRef>
          <a:effectRef idx="2">
            <a:schemeClr val="accent1"/>
          </a:effectRef>
          <a:fontRef idx="minor">
            <a:schemeClr val="lt1"/>
          </a:fontRef>
        </p:style>
        <p:txBody>
          <a:bodyPr rtlCol="0" anchor="ctr"/>
          <a:lstStyle/>
          <a:p>
            <a:r>
              <a:t>ACCURACY</a:t>
            </a:r>
          </a:p>
          <a:p>
            <a:endParaRPr/>
          </a:p>
          <a:p>
            <a:r>
              <a:t>79%</a:t>
            </a:r>
          </a:p>
          <a:p>
            <a:endParaRPr/>
          </a:p>
          <a:p>
            <a:r>
              <a:t>A model that answers 'No' to every tag scores 79% while catching nothing.</a:t>
            </a:r>
          </a:p>
          <a:p>
            <a:endParaRPr/>
          </a:p>
          <a:p>
            <a:r>
              <a:t>One big number, weak tag invisible.</a:t>
            </a:r>
          </a:p>
        </p:txBody>
      </p:sp>
      <p:sp>
        <p:nvSpPr>
          <p:cNvPr id="3" name="Rectangle 2"/>
          <p:cNvSpPr/>
          <p:nvPr/>
        </p:nvSpPr>
        <p:spPr>
          <a:xfrm>
            <a:off x="6309360" y="1828800"/>
            <a:ext cx="5303520" cy="3931920"/>
          </a:xfrm>
          <a:prstGeom prst="rect">
            <a:avLst/>
          </a:prstGeom>
          <a:solidFill>
            <a:srgbClr val="E9F0E9"/>
          </a:solidFill>
        </p:spPr>
        <p:style>
          <a:lnRef idx="1">
            <a:schemeClr val="accent1"/>
          </a:lnRef>
          <a:fillRef idx="3">
            <a:schemeClr val="accent1"/>
          </a:fillRef>
          <a:effectRef idx="2">
            <a:schemeClr val="accent1"/>
          </a:effectRef>
          <a:fontRef idx="minor">
            <a:schemeClr val="lt1"/>
          </a:fontRef>
        </p:style>
        <p:txBody>
          <a:bodyPr rtlCol="0" anchor="ctr"/>
          <a:lstStyle/>
          <a:p>
            <a:r>
              <a:t>AUPRC, tag by tag</a:t>
            </a:r>
          </a:p>
          <a:p>
            <a:endParaRPr/>
          </a:p>
          <a:p>
            <a:r>
              <a:t>Multiple Lenses  1.00</a:t>
            </a:r>
          </a:p>
          <a:p>
            <a:r>
              <a:t>Missing Primary Package  1.00</a:t>
            </a:r>
          </a:p>
          <a:p>
            <a:r>
              <a:t>Missing Lens  1.00</a:t>
            </a:r>
          </a:p>
          <a:p>
            <a:r>
              <a:t>Cavity Off Center  1.00</a:t>
            </a:r>
          </a:p>
          <a:p>
            <a:r>
              <a:t>Folded Lens  0.52</a:t>
            </a:r>
          </a:p>
          <a:p>
            <a:endParaRPr/>
          </a:p>
          <a:p>
            <a:r>
              <a:t>Each tag stands alone, so the weak tag is visible, not hidden.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371600"/>
            <a:ext cx="8229600" cy="4572000"/>
          </a:xfrm>
          <a:prstGeom prst="rect">
            <a:avLst/>
          </a:prstGeom>
          <a:noFill/>
        </p:spPr>
        <p:txBody>
          <a:bodyPr wrap="none">
            <a:spAutoFit/>
          </a:bodyPr>
          <a:lstStyle/>
          <a:p>
            <a:r>
              <a:t>Because Folded Lens never appears alone in this export, the cheapest way to look right is to copy Multiple Lenses and never learn the fold itself.</a:t>
            </a:r>
          </a:p>
          <a:p>
            <a:r>
              <a:t>Open question for the client: can Folded Lens physically occur without Multiple Lenses, and does it exist unlabelled in the images we have? The answer decides whether the cure is new annotations or a longer wait for the full dataset.</a:t>
            </a:r>
          </a:p>
        </p:txBody>
      </p:sp>
      <p:graphicFrame>
        <p:nvGraphicFramePr>
          <p:cNvPr id="3" name="Table 2"/>
          <p:cNvGraphicFramePr>
            <a:graphicFrameLocks noGrp="1"/>
          </p:cNvGraphicFramePr>
          <p:nvPr/>
        </p:nvGraphicFramePr>
        <p:xfrm>
          <a:off x="640080" y="2011680"/>
          <a:ext cx="10881360" cy="201168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457200">
                <a:tc>
                  <a:txBody>
                    <a:bodyPr/>
                    <a:lstStyle/>
                    <a:p>
                      <a:r>
                        <a:t>Label distribution</a:t>
                      </a:r>
                    </a:p>
                  </a:txBody>
                  <a:tcPr/>
                </a:tc>
                <a:tc>
                  <a:txBody>
                    <a:bodyPr/>
                    <a:lstStyle/>
                    <a:p>
                      <a:r>
                        <a:t>Images</a:t>
                      </a:r>
                    </a:p>
                  </a:txBody>
                  <a:tcPr/>
                </a:tc>
                <a:tc>
                  <a:txBody>
                    <a:bodyPr/>
                    <a:lstStyle/>
                    <a:p>
                      <a:r>
                        <a:t>Share</a:t>
                      </a:r>
                    </a:p>
                  </a:txBody>
                  <a:tcPr/>
                </a:tc>
                <a:extLst>
                  <a:ext uri="{0D108BD9-81ED-4DB2-BD59-A6C34878D82A}">
                    <a16:rowId xmlns:a16="http://schemas.microsoft.com/office/drawing/2014/main" val="10000"/>
                  </a:ext>
                </a:extLst>
              </a:tr>
              <a:tr h="457200">
                <a:tc>
                  <a:txBody>
                    <a:bodyPr/>
                    <a:lstStyle/>
                    <a:p>
                      <a:r>
                        <a:t>Single-tag images</a:t>
                      </a:r>
                    </a:p>
                  </a:txBody>
                  <a:tcPr/>
                </a:tc>
                <a:tc>
                  <a:txBody>
                    <a:bodyPr/>
                    <a:lstStyle/>
                    <a:p>
                      <a:r>
                        <a:t>3,199</a:t>
                      </a:r>
                    </a:p>
                  </a:txBody>
                  <a:tcPr/>
                </a:tc>
                <a:tc>
                  <a:txBody>
                    <a:bodyPr/>
                    <a:lstStyle/>
                    <a:p>
                      <a:r>
                        <a:t>94.7%</a:t>
                      </a:r>
                    </a:p>
                  </a:txBody>
                  <a:tcPr/>
                </a:tc>
                <a:extLst>
                  <a:ext uri="{0D108BD9-81ED-4DB2-BD59-A6C34878D82A}">
                    <a16:rowId xmlns:a16="http://schemas.microsoft.com/office/drawing/2014/main" val="10001"/>
                  </a:ext>
                </a:extLst>
              </a:tr>
              <a:tr h="457200">
                <a:tc>
                  <a:txBody>
                    <a:bodyPr/>
                    <a:lstStyle/>
                    <a:p>
                      <a:r>
                        <a:t>Two-tag images (Folded Lens + Multiple Lenses)</a:t>
                      </a:r>
                    </a:p>
                  </a:txBody>
                  <a:tcPr/>
                </a:tc>
                <a:tc>
                  <a:txBody>
                    <a:bodyPr/>
                    <a:lstStyle/>
                    <a:p>
                      <a:r>
                        <a:t>178</a:t>
                      </a:r>
                    </a:p>
                  </a:txBody>
                  <a:tcPr/>
                </a:tc>
                <a:tc>
                  <a:txBody>
                    <a:bodyPr/>
                    <a:lstStyle/>
                    <a:p>
                      <a:r>
                        <a:t>5.3%</a:t>
                      </a:r>
                    </a:p>
                  </a:txBody>
                  <a:tcPr/>
                </a:tc>
                <a:extLst>
                  <a:ext uri="{0D108BD9-81ED-4DB2-BD59-A6C34878D82A}">
                    <a16:rowId xmlns:a16="http://schemas.microsoft.com/office/drawing/2014/main" val="10002"/>
                  </a:ext>
                </a:extLst>
              </a:tr>
              <a:tr h="457200">
                <a:tc>
                  <a:txBody>
                    <a:bodyPr/>
                    <a:lstStyle/>
                    <a:p>
                      <a:r>
                        <a:t>Three or more tags</a:t>
                      </a:r>
                    </a:p>
                  </a:txBody>
                  <a:tcPr/>
                </a:tc>
                <a:tc>
                  <a:txBody>
                    <a:bodyPr/>
                    <a:lstStyle/>
                    <a:p>
                      <a:r>
                        <a:t>0</a:t>
                      </a:r>
                    </a:p>
                  </a:txBody>
                  <a:tcPr/>
                </a:tc>
                <a:tc>
                  <a:txBody>
                    <a:bodyPr/>
                    <a:lstStyle/>
                    <a:p>
                      <a:r>
                        <a:t>0%</a:t>
                      </a:r>
                    </a:p>
                  </a:txBody>
                  <a:tcPr/>
                </a:tc>
                <a:extLst>
                  <a:ext uri="{0D108BD9-81ED-4DB2-BD59-A6C34878D82A}">
                    <a16:rowId xmlns:a16="http://schemas.microsoft.com/office/drawing/2014/main" val="10003"/>
                  </a:ext>
                </a:extLst>
              </a:tr>
            </a:tbl>
          </a:graphicData>
        </a:graphic>
      </p:graphicFrame>
      <p:graphicFrame>
        <p:nvGraphicFramePr>
          <p:cNvPr id="4" name="Table 3"/>
          <p:cNvGraphicFramePr>
            <a:graphicFrameLocks noGrp="1"/>
          </p:cNvGraphicFramePr>
          <p:nvPr/>
        </p:nvGraphicFramePr>
        <p:xfrm>
          <a:off x="640080" y="2011680"/>
          <a:ext cx="10881360" cy="2194560"/>
        </p:xfrm>
        <a:graphic>
          <a:graphicData uri="http://schemas.openxmlformats.org/drawingml/2006/table">
            <a:tbl>
              <a:tblPr firstRow="1" bandRow="1">
                <a:tableStyleId>{5C22544A-7EE6-4342-B048-85BDC9FD1C3A}</a:tableStyleId>
              </a:tblPr>
              <a:tblGrid>
                <a:gridCol w="3627120">
                  <a:extLst>
                    <a:ext uri="{9D8B030D-6E8A-4147-A177-3AD203B41FA5}">
                      <a16:colId xmlns:a16="http://schemas.microsoft.com/office/drawing/2014/main" val="20000"/>
                    </a:ext>
                  </a:extLst>
                </a:gridCol>
                <a:gridCol w="3627120">
                  <a:extLst>
                    <a:ext uri="{9D8B030D-6E8A-4147-A177-3AD203B41FA5}">
                      <a16:colId xmlns:a16="http://schemas.microsoft.com/office/drawing/2014/main" val="20001"/>
                    </a:ext>
                  </a:extLst>
                </a:gridCol>
                <a:gridCol w="3627120">
                  <a:extLst>
                    <a:ext uri="{9D8B030D-6E8A-4147-A177-3AD203B41FA5}">
                      <a16:colId xmlns:a16="http://schemas.microsoft.com/office/drawing/2014/main" val="20002"/>
                    </a:ext>
                  </a:extLst>
                </a:gridCol>
              </a:tblGrid>
              <a:tr h="304800">
                <a:tc>
                  <a:txBody>
                    <a:bodyPr/>
                    <a:lstStyle/>
                    <a:p>
                      <a:r>
                        <a:t>Tag</a:t>
                      </a:r>
                    </a:p>
                  </a:txBody>
                  <a:tcPr/>
                </a:tc>
                <a:tc>
                  <a:txBody>
                    <a:bodyPr/>
                    <a:lstStyle/>
                    <a:p>
                      <a:r>
                        <a:t>Images carrying it</a:t>
                      </a:r>
                    </a:p>
                  </a:txBody>
                  <a:tcPr/>
                </a:tc>
                <a:tc>
                  <a:txBody>
                    <a:bodyPr/>
                    <a:lstStyle/>
                    <a:p>
                      <a:r>
                        <a:t>Also carries</a:t>
                      </a:r>
                    </a:p>
                  </a:txBody>
                  <a:tcPr/>
                </a:tc>
                <a:extLst>
                  <a:ext uri="{0D108BD9-81ED-4DB2-BD59-A6C34878D82A}">
                    <a16:rowId xmlns:a16="http://schemas.microsoft.com/office/drawing/2014/main" val="10000"/>
                  </a:ext>
                </a:extLst>
              </a:tr>
              <a:tr h="304800">
                <a:tc>
                  <a:txBody>
                    <a:bodyPr/>
                    <a:lstStyle/>
                    <a:p>
                      <a:r>
                        <a:t>Multiple Lenses</a:t>
                      </a:r>
                    </a:p>
                  </a:txBody>
                  <a:tcPr/>
                </a:tc>
                <a:tc>
                  <a:txBody>
                    <a:bodyPr/>
                    <a:lstStyle/>
                    <a:p>
                      <a:r>
                        <a:t>1,442</a:t>
                      </a:r>
                    </a:p>
                  </a:txBody>
                  <a:tcPr/>
                </a:tc>
                <a:tc>
                  <a:txBody>
                    <a:bodyPr/>
                    <a:lstStyle/>
                    <a:p>
                      <a:r>
                        <a:t>178 with Folded Lens</a:t>
                      </a:r>
                    </a:p>
                  </a:txBody>
                  <a:tcPr/>
                </a:tc>
                <a:extLst>
                  <a:ext uri="{0D108BD9-81ED-4DB2-BD59-A6C34878D82A}">
                    <a16:rowId xmlns:a16="http://schemas.microsoft.com/office/drawing/2014/main" val="10001"/>
                  </a:ext>
                </a:extLst>
              </a:tr>
              <a:tr h="304800">
                <a:tc>
                  <a:txBody>
                    <a:bodyPr/>
                    <a:lstStyle/>
                    <a:p>
                      <a:r>
                        <a:t>Missing Primary Package</a:t>
                      </a:r>
                    </a:p>
                  </a:txBody>
                  <a:tcPr/>
                </a:tc>
                <a:tc>
                  <a:txBody>
                    <a:bodyPr/>
                    <a:lstStyle/>
                    <a:p>
                      <a:r>
                        <a:t>1,427</a:t>
                      </a:r>
                    </a:p>
                  </a:txBody>
                  <a:tcPr/>
                </a:tc>
                <a:tc>
                  <a:txBody>
                    <a:bodyPr/>
                    <a:lstStyle/>
                    <a:p>
                      <a:r>
                        <a:t>never overlaps</a:t>
                      </a:r>
                    </a:p>
                  </a:txBody>
                  <a:tcPr/>
                </a:tc>
                <a:extLst>
                  <a:ext uri="{0D108BD9-81ED-4DB2-BD59-A6C34878D82A}">
                    <a16:rowId xmlns:a16="http://schemas.microsoft.com/office/drawing/2014/main" val="10002"/>
                  </a:ext>
                </a:extLst>
              </a:tr>
              <a:tr h="304800">
                <a:tc>
                  <a:txBody>
                    <a:bodyPr/>
                    <a:lstStyle/>
                    <a:p>
                      <a:r>
                        <a:t>Missing Lens</a:t>
                      </a:r>
                    </a:p>
                  </a:txBody>
                  <a:tcPr/>
                </a:tc>
                <a:tc>
                  <a:txBody>
                    <a:bodyPr/>
                    <a:lstStyle/>
                    <a:p>
                      <a:r>
                        <a:t>325</a:t>
                      </a:r>
                    </a:p>
                  </a:txBody>
                  <a:tcPr/>
                </a:tc>
                <a:tc>
                  <a:txBody>
                    <a:bodyPr/>
                    <a:lstStyle/>
                    <a:p>
                      <a:r>
                        <a:t>never overlaps</a:t>
                      </a:r>
                    </a:p>
                  </a:txBody>
                  <a:tcPr/>
                </a:tc>
                <a:extLst>
                  <a:ext uri="{0D108BD9-81ED-4DB2-BD59-A6C34878D82A}">
                    <a16:rowId xmlns:a16="http://schemas.microsoft.com/office/drawing/2014/main" val="10003"/>
                  </a:ext>
                </a:extLst>
              </a:tr>
              <a:tr h="304800">
                <a:tc>
                  <a:txBody>
                    <a:bodyPr/>
                    <a:lstStyle/>
                    <a:p>
                      <a:r>
                        <a:t>Cavity Off Center</a:t>
                      </a:r>
                    </a:p>
                  </a:txBody>
                  <a:tcPr/>
                </a:tc>
                <a:tc>
                  <a:txBody>
                    <a:bodyPr/>
                    <a:lstStyle/>
                    <a:p>
                      <a:r>
                        <a:t>183</a:t>
                      </a:r>
                    </a:p>
                  </a:txBody>
                  <a:tcPr/>
                </a:tc>
                <a:tc>
                  <a:txBody>
                    <a:bodyPr/>
                    <a:lstStyle/>
                    <a:p>
                      <a:r>
                        <a:t>never overlaps</a:t>
                      </a:r>
                    </a:p>
                  </a:txBody>
                  <a:tcPr/>
                </a:tc>
                <a:extLst>
                  <a:ext uri="{0D108BD9-81ED-4DB2-BD59-A6C34878D82A}">
                    <a16:rowId xmlns:a16="http://schemas.microsoft.com/office/drawing/2014/main" val="10004"/>
                  </a:ext>
                </a:extLst>
              </a:tr>
              <a:tr h="304800">
                <a:tc>
                  <a:txBody>
                    <a:bodyPr/>
                    <a:lstStyle/>
                    <a:p>
                      <a:r>
                        <a:t>Folded Lens</a:t>
                      </a:r>
                    </a:p>
                  </a:txBody>
                  <a:tcPr/>
                </a:tc>
                <a:tc>
                  <a:txBody>
                    <a:bodyPr/>
                    <a:lstStyle/>
                    <a:p>
                      <a:r>
                        <a:t>178</a:t>
                      </a:r>
                    </a:p>
                  </a:txBody>
                  <a:tcPr/>
                </a:tc>
                <a:tc>
                  <a:txBody>
                    <a:bodyPr/>
                    <a:lstStyle/>
                    <a:p>
                      <a:r>
                        <a:t>always with Multiple Lenses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 do next</a:t>
            </a:r>
          </a:p>
        </p:txBody>
      </p:sp>
      <p:sp>
        <p:nvSpPr>
          <p:cNvPr id="3" name="Content Placeholder 2"/>
          <p:cNvSpPr>
            <a:spLocks noGrp="1"/>
          </p:cNvSpPr>
          <p:nvPr>
            <p:ph idx="1"/>
          </p:nvPr>
        </p:nvSpPr>
        <p:spPr/>
        <p:txBody>
          <a:bodyPr/>
          <a:lstStyle/>
          <a:p>
            <a:r>
              <a:t>Take one question to the client: does Folded Lens occur without Multiple Lenses? If yes, new annotations fix the root cause and this week's weighting is the bridge that works until then.</a:t>
            </a:r>
          </a:p>
          <a:p>
            <a:r>
              <a:t>Cut a third validation split, then pick the Folded Lens cut-off from saved scores. No retraining needed; this is how we buy precision back.</a:t>
            </a:r>
          </a:p>
          <a:p>
            <a:r>
              <a:t>Re-run the Fiber and Extraneous Polymer figures now that the client has ruled those objects Extraneous Polymer going forward.</a:t>
            </a:r>
          </a:p>
          <a:p>
            <a:r>
              <a:t>Around 5,000 additional annotated images are expected from the client. They give the rare tags the examples they are missing.</a:t>
            </a:r>
          </a:p>
          <a:p>
            <a:r>
              <a:t>Each training run takes under 20 minutes, so any of these is days of work, not weeks.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TotalTime>
  <Words>1275</Words>
  <Application>Microsoft Office PowerPoint</Application>
  <PresentationFormat>Widescreen</PresentationFormat>
  <Paragraphs>162</Paragraphs>
  <Slides>9</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Multi-label lens inspection: where we are, and the Folded Lens fix</vt:lpstr>
      <vt:lpstr>How to read the numbers in this deck</vt:lpstr>
      <vt:lpstr>PowerPoint Presentation</vt:lpstr>
      <vt:lpstr>PowerPoint Presentation</vt:lpstr>
      <vt:lpstr>PowerPoint Presentation</vt:lpstr>
      <vt:lpstr>PowerPoint Presentation</vt:lpstr>
      <vt:lpstr>PowerPoint Presentation</vt:lpstr>
      <vt:lpstr>PowerPoint Presentation</vt:lpstr>
      <vt:lpstr>What we do next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Pranay Pudota</cp:lastModifiedBy>
  <cp:revision>2</cp:revision>
  <dcterms:created xsi:type="dcterms:W3CDTF">2013-01-27T09:14:16Z</dcterms:created>
  <dcterms:modified xsi:type="dcterms:W3CDTF">2026-10-06T04:02:39Z</dcterms:modified>
  <cp:category/>
</cp:coreProperties>
</file>